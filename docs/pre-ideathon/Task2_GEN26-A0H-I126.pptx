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1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E79426-5021-4A34-8E2C-EE04A777DA1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EAAA5FC-1E23-4BAB-B5A3-74EAA96D6191}">
      <dgm:prSet phldrT="[Text]" phldr="0"/>
      <dgm:spPr/>
      <dgm:t>
        <a:bodyPr/>
        <a:lstStyle/>
        <a:p>
          <a:r>
            <a:rPr lang="en-US" dirty="0"/>
            <a:t>What our Team tends to do</a:t>
          </a:r>
          <a:endParaRPr lang="en-IN" dirty="0"/>
        </a:p>
      </dgm:t>
    </dgm:pt>
    <dgm:pt modelId="{1CC52044-FD24-40A0-AF64-6BDA264740C2}" type="parTrans" cxnId="{B59FAD9D-0AB4-4696-A935-334AA3CA9C35}">
      <dgm:prSet/>
      <dgm:spPr/>
      <dgm:t>
        <a:bodyPr/>
        <a:lstStyle/>
        <a:p>
          <a:endParaRPr lang="en-IN"/>
        </a:p>
      </dgm:t>
    </dgm:pt>
    <dgm:pt modelId="{1DD36EA1-68E6-43D8-8159-02F9B35A725F}" type="sibTrans" cxnId="{B59FAD9D-0AB4-4696-A935-334AA3CA9C35}">
      <dgm:prSet/>
      <dgm:spPr/>
      <dgm:t>
        <a:bodyPr/>
        <a:lstStyle/>
        <a:p>
          <a:endParaRPr lang="en-IN"/>
        </a:p>
      </dgm:t>
    </dgm:pt>
    <dgm:pt modelId="{59F42168-7667-442E-A67C-643934DF6C4B}">
      <dgm:prSet phldrT="[Text]"/>
      <dgm:spPr/>
      <dgm:t>
        <a:bodyPr/>
        <a:lstStyle/>
        <a:p>
          <a:r>
            <a:rPr lang="en-US" dirty="0">
              <a:latin typeface="Times New Roman" panose="02020603050405020304" pitchFamily="18" charset="0"/>
              <a:cs typeface="Times New Roman" panose="02020603050405020304" pitchFamily="18" charset="0"/>
            </a:rPr>
            <a:t>Develop a system that estimates changes occurring when satellite observations are unavailable.
Combine satellite images with weather, terrain, and other geospatial data.
Create maps and timelines showing when and how changes may have occurred.</a:t>
          </a:r>
          <a:endParaRPr lang="en-IN" dirty="0">
            <a:latin typeface="Times New Roman" panose="02020603050405020304" pitchFamily="18" charset="0"/>
            <a:cs typeface="Times New Roman" panose="02020603050405020304" pitchFamily="18" charset="0"/>
          </a:endParaRPr>
        </a:p>
      </dgm:t>
    </dgm:pt>
    <dgm:pt modelId="{A11B5806-C9E6-42DA-98A7-DFC7F6D6E7A5}" type="parTrans" cxnId="{0F4229ED-752C-4416-9E8B-6EC9E9B47198}">
      <dgm:prSet/>
      <dgm:spPr/>
      <dgm:t>
        <a:bodyPr/>
        <a:lstStyle/>
        <a:p>
          <a:endParaRPr lang="en-IN"/>
        </a:p>
      </dgm:t>
    </dgm:pt>
    <dgm:pt modelId="{CC4AB22D-2C41-4E18-97A6-207D4735694D}" type="sibTrans" cxnId="{0F4229ED-752C-4416-9E8B-6EC9E9B47198}">
      <dgm:prSet/>
      <dgm:spPr/>
      <dgm:t>
        <a:bodyPr/>
        <a:lstStyle/>
        <a:p>
          <a:endParaRPr lang="en-IN"/>
        </a:p>
      </dgm:t>
    </dgm:pt>
    <dgm:pt modelId="{287952FA-D5DF-422A-A8E0-2EE83E1B87DD}">
      <dgm:prSet phldrT="[Text]" phldr="0"/>
      <dgm:spPr/>
      <dgm:t>
        <a:bodyPr/>
        <a:lstStyle/>
        <a:p>
          <a:r>
            <a:rPr lang="en-US" dirty="0"/>
            <a:t>Improvements</a:t>
          </a:r>
          <a:endParaRPr lang="en-IN" dirty="0"/>
        </a:p>
      </dgm:t>
    </dgm:pt>
    <dgm:pt modelId="{07B96E04-0F99-40DA-810F-6DC1503E6022}" type="parTrans" cxnId="{A93CCABF-E56A-44BA-99A5-B5D67F1C050A}">
      <dgm:prSet/>
      <dgm:spPr/>
      <dgm:t>
        <a:bodyPr/>
        <a:lstStyle/>
        <a:p>
          <a:endParaRPr lang="en-IN"/>
        </a:p>
      </dgm:t>
    </dgm:pt>
    <dgm:pt modelId="{5D32036C-574F-4A45-BC26-545A1F6FBB51}" type="sibTrans" cxnId="{A93CCABF-E56A-44BA-99A5-B5D67F1C050A}">
      <dgm:prSet/>
      <dgm:spPr/>
      <dgm:t>
        <a:bodyPr/>
        <a:lstStyle/>
        <a:p>
          <a:endParaRPr lang="en-IN"/>
        </a:p>
      </dgm:t>
    </dgm:pt>
    <dgm:pt modelId="{7D7F268B-349F-4A7B-93DB-B4A379EB3AD1}">
      <dgm:prSet phldrT="[Text]" custT="1"/>
      <dgm:spPr/>
      <dgm:t>
        <a:bodyPr/>
        <a:lstStyle/>
        <a:p>
          <a:r>
            <a:rPr lang="en-US" sz="1600" dirty="0">
              <a:latin typeface="Times New Roman" panose="02020603050405020304" pitchFamily="18" charset="0"/>
              <a:cs typeface="Times New Roman" panose="02020603050405020304" pitchFamily="18" charset="0"/>
            </a:rPr>
            <a:t>Go beyond filling missing satellite images by estimating how changes developed during observation gaps.
Clearly distinguish actual observations from estimated information.
Show uncertainty in the results to avoid misleading users.
Improve the reconstruction of sudden changes that may be missed between satellite observations.</a:t>
          </a:r>
          <a:endParaRPr lang="en-IN" sz="1600" dirty="0">
            <a:latin typeface="Times New Roman" panose="02020603050405020304" pitchFamily="18" charset="0"/>
            <a:cs typeface="Times New Roman" panose="02020603050405020304" pitchFamily="18" charset="0"/>
          </a:endParaRPr>
        </a:p>
      </dgm:t>
    </dgm:pt>
    <dgm:pt modelId="{35B68926-4059-4495-A22A-2DDFA6C083A1}" type="parTrans" cxnId="{5941B4EC-291E-46E3-B653-E98872B04507}">
      <dgm:prSet/>
      <dgm:spPr/>
      <dgm:t>
        <a:bodyPr/>
        <a:lstStyle/>
        <a:p>
          <a:endParaRPr lang="en-IN"/>
        </a:p>
      </dgm:t>
    </dgm:pt>
    <dgm:pt modelId="{D779B750-B945-4975-855C-44A74BD440F3}" type="sibTrans" cxnId="{5941B4EC-291E-46E3-B653-E98872B04507}">
      <dgm:prSet/>
      <dgm:spPr/>
      <dgm:t>
        <a:bodyPr/>
        <a:lstStyle/>
        <a:p>
          <a:endParaRPr lang="en-IN"/>
        </a:p>
      </dgm:t>
    </dgm:pt>
    <dgm:pt modelId="{399A5D04-56E1-4DE0-BB2D-776035A098F6}">
      <dgm:prSet phldrT="[Text]"/>
      <dgm:spPr/>
      <dgm:t>
        <a:bodyPr/>
        <a:lstStyle/>
        <a:p>
          <a:r>
            <a:rPr lang="en-US" dirty="0"/>
            <a:t> What Successful Improvement Should We Achieve?   </a:t>
          </a:r>
          <a:endParaRPr lang="en-IN" dirty="0"/>
        </a:p>
      </dgm:t>
    </dgm:pt>
    <dgm:pt modelId="{EDAD4751-3880-4D0A-BA64-C17969D51B63}" type="parTrans" cxnId="{20937BBA-9FA0-46AB-B691-3D21B287672A}">
      <dgm:prSet/>
      <dgm:spPr/>
      <dgm:t>
        <a:bodyPr/>
        <a:lstStyle/>
        <a:p>
          <a:endParaRPr lang="en-IN"/>
        </a:p>
      </dgm:t>
    </dgm:pt>
    <dgm:pt modelId="{56631CC9-F446-4A46-84A1-0AFF2FEA0010}" type="sibTrans" cxnId="{20937BBA-9FA0-46AB-B691-3D21B287672A}">
      <dgm:prSet/>
      <dgm:spPr/>
      <dgm:t>
        <a:bodyPr/>
        <a:lstStyle/>
        <a:p>
          <a:endParaRPr lang="en-IN"/>
        </a:p>
      </dgm:t>
    </dgm:pt>
    <dgm:pt modelId="{58EAD19C-A829-4692-8A3D-959DFCAEC7C3}">
      <dgm:prSet phldrT="[Text]" custT="1"/>
      <dgm:spPr/>
      <dgm:t>
        <a:bodyPr/>
        <a:lstStyle/>
        <a:p>
          <a:r>
            <a:rPr lang="en-US" sz="1600" dirty="0">
              <a:latin typeface="Times New Roman" panose="02020603050405020304" pitchFamily="18" charset="0"/>
              <a:cs typeface="Times New Roman" panose="02020603050405020304" pitchFamily="18" charset="0"/>
            </a:rPr>
            <a:t>Build a working prototype that displays reconstructed changes through maps and timelines.
Estimate the likely timing and extent of changes while showing uncertainty.
Test the system using historical satellite data to evaluate its accuracy.
Demonstrate how the system could support infrastructure monitoring, transportation planning, and urban development.</a:t>
          </a:r>
          <a:endParaRPr lang="en-IN" sz="1600" dirty="0">
            <a:latin typeface="Times New Roman" panose="02020603050405020304" pitchFamily="18" charset="0"/>
            <a:cs typeface="Times New Roman" panose="02020603050405020304" pitchFamily="18" charset="0"/>
          </a:endParaRPr>
        </a:p>
      </dgm:t>
    </dgm:pt>
    <dgm:pt modelId="{E654F421-C379-435A-9825-85A70ADEBE04}" type="parTrans" cxnId="{CA78C3FF-1189-4B71-B28B-4BA5DE93122D}">
      <dgm:prSet/>
      <dgm:spPr/>
      <dgm:t>
        <a:bodyPr/>
        <a:lstStyle/>
        <a:p>
          <a:endParaRPr lang="en-IN"/>
        </a:p>
      </dgm:t>
    </dgm:pt>
    <dgm:pt modelId="{1EC4735B-F1D8-4047-B96F-D8D9C0169099}" type="sibTrans" cxnId="{CA78C3FF-1189-4B71-B28B-4BA5DE93122D}">
      <dgm:prSet/>
      <dgm:spPr/>
      <dgm:t>
        <a:bodyPr/>
        <a:lstStyle/>
        <a:p>
          <a:endParaRPr lang="en-IN"/>
        </a:p>
      </dgm:t>
    </dgm:pt>
    <dgm:pt modelId="{49F410A0-B9A1-4992-AB8F-420F2D2BB5FE}" type="pres">
      <dgm:prSet presAssocID="{28E79426-5021-4A34-8E2C-EE04A777DA12}" presName="linear" presStyleCnt="0">
        <dgm:presLayoutVars>
          <dgm:animLvl val="lvl"/>
          <dgm:resizeHandles val="exact"/>
        </dgm:presLayoutVars>
      </dgm:prSet>
      <dgm:spPr/>
    </dgm:pt>
    <dgm:pt modelId="{B9539908-A406-4F9C-B11C-B1204FB34230}" type="pres">
      <dgm:prSet presAssocID="{FEAAA5FC-1E23-4BAB-B5A3-74EAA96D6191}" presName="parentText" presStyleLbl="node1" presStyleIdx="0" presStyleCnt="3">
        <dgm:presLayoutVars>
          <dgm:chMax val="0"/>
          <dgm:bulletEnabled val="1"/>
        </dgm:presLayoutVars>
      </dgm:prSet>
      <dgm:spPr/>
    </dgm:pt>
    <dgm:pt modelId="{BC904D02-0A72-4B2B-B193-FC5D472E2BA1}" type="pres">
      <dgm:prSet presAssocID="{FEAAA5FC-1E23-4BAB-B5A3-74EAA96D6191}" presName="childText" presStyleLbl="revTx" presStyleIdx="0" presStyleCnt="3">
        <dgm:presLayoutVars>
          <dgm:bulletEnabled val="1"/>
        </dgm:presLayoutVars>
      </dgm:prSet>
      <dgm:spPr/>
    </dgm:pt>
    <dgm:pt modelId="{103EDC78-6072-4669-9A28-CA0BDFE5F5D7}" type="pres">
      <dgm:prSet presAssocID="{287952FA-D5DF-422A-A8E0-2EE83E1B87DD}" presName="parentText" presStyleLbl="node1" presStyleIdx="1" presStyleCnt="3">
        <dgm:presLayoutVars>
          <dgm:chMax val="0"/>
          <dgm:bulletEnabled val="1"/>
        </dgm:presLayoutVars>
      </dgm:prSet>
      <dgm:spPr/>
    </dgm:pt>
    <dgm:pt modelId="{3666CBC6-3934-4BD9-BC6D-FB7B9442C263}" type="pres">
      <dgm:prSet presAssocID="{287952FA-D5DF-422A-A8E0-2EE83E1B87DD}" presName="childText" presStyleLbl="revTx" presStyleIdx="1" presStyleCnt="3">
        <dgm:presLayoutVars>
          <dgm:bulletEnabled val="1"/>
        </dgm:presLayoutVars>
      </dgm:prSet>
      <dgm:spPr/>
    </dgm:pt>
    <dgm:pt modelId="{E24B7117-A377-48BA-A0EE-9B4F27185FE3}" type="pres">
      <dgm:prSet presAssocID="{399A5D04-56E1-4DE0-BB2D-776035A098F6}" presName="parentText" presStyleLbl="node1" presStyleIdx="2" presStyleCnt="3">
        <dgm:presLayoutVars>
          <dgm:chMax val="0"/>
          <dgm:bulletEnabled val="1"/>
        </dgm:presLayoutVars>
      </dgm:prSet>
      <dgm:spPr/>
    </dgm:pt>
    <dgm:pt modelId="{2E58E2E2-CBD5-4B67-AF8E-290453B42120}" type="pres">
      <dgm:prSet presAssocID="{399A5D04-56E1-4DE0-BB2D-776035A098F6}" presName="childText" presStyleLbl="revTx" presStyleIdx="2" presStyleCnt="3">
        <dgm:presLayoutVars>
          <dgm:bulletEnabled val="1"/>
        </dgm:presLayoutVars>
      </dgm:prSet>
      <dgm:spPr/>
    </dgm:pt>
  </dgm:ptLst>
  <dgm:cxnLst>
    <dgm:cxn modelId="{DA4B5600-08B8-42A8-B6D3-185AFA97DE2C}" type="presOf" srcId="{28E79426-5021-4A34-8E2C-EE04A777DA12}" destId="{49F410A0-B9A1-4992-AB8F-420F2D2BB5FE}" srcOrd="0" destOrd="0" presId="urn:microsoft.com/office/officeart/2005/8/layout/vList2"/>
    <dgm:cxn modelId="{B1AA566C-B5C6-46CD-8B84-CB41CC885D9D}" type="presOf" srcId="{58EAD19C-A829-4692-8A3D-959DFCAEC7C3}" destId="{2E58E2E2-CBD5-4B67-AF8E-290453B42120}" srcOrd="0" destOrd="0" presId="urn:microsoft.com/office/officeart/2005/8/layout/vList2"/>
    <dgm:cxn modelId="{84F73B71-4295-46F0-AA30-7CF05F58BBC9}" type="presOf" srcId="{59F42168-7667-442E-A67C-643934DF6C4B}" destId="{BC904D02-0A72-4B2B-B193-FC5D472E2BA1}" srcOrd="0" destOrd="0" presId="urn:microsoft.com/office/officeart/2005/8/layout/vList2"/>
    <dgm:cxn modelId="{FFD21F58-4388-4B7C-8CA4-DF19D84CAFFE}" type="presOf" srcId="{287952FA-D5DF-422A-A8E0-2EE83E1B87DD}" destId="{103EDC78-6072-4669-9A28-CA0BDFE5F5D7}" srcOrd="0" destOrd="0" presId="urn:microsoft.com/office/officeart/2005/8/layout/vList2"/>
    <dgm:cxn modelId="{41257879-4036-4033-90F7-E788C1B556DB}" type="presOf" srcId="{FEAAA5FC-1E23-4BAB-B5A3-74EAA96D6191}" destId="{B9539908-A406-4F9C-B11C-B1204FB34230}" srcOrd="0" destOrd="0" presId="urn:microsoft.com/office/officeart/2005/8/layout/vList2"/>
    <dgm:cxn modelId="{B59FAD9D-0AB4-4696-A935-334AA3CA9C35}" srcId="{28E79426-5021-4A34-8E2C-EE04A777DA12}" destId="{FEAAA5FC-1E23-4BAB-B5A3-74EAA96D6191}" srcOrd="0" destOrd="0" parTransId="{1CC52044-FD24-40A0-AF64-6BDA264740C2}" sibTransId="{1DD36EA1-68E6-43D8-8159-02F9B35A725F}"/>
    <dgm:cxn modelId="{20937BBA-9FA0-46AB-B691-3D21B287672A}" srcId="{28E79426-5021-4A34-8E2C-EE04A777DA12}" destId="{399A5D04-56E1-4DE0-BB2D-776035A098F6}" srcOrd="2" destOrd="0" parTransId="{EDAD4751-3880-4D0A-BA64-C17969D51B63}" sibTransId="{56631CC9-F446-4A46-84A1-0AFF2FEA0010}"/>
    <dgm:cxn modelId="{A93CCABF-E56A-44BA-99A5-B5D67F1C050A}" srcId="{28E79426-5021-4A34-8E2C-EE04A777DA12}" destId="{287952FA-D5DF-422A-A8E0-2EE83E1B87DD}" srcOrd="1" destOrd="0" parTransId="{07B96E04-0F99-40DA-810F-6DC1503E6022}" sibTransId="{5D32036C-574F-4A45-BC26-545A1F6FBB51}"/>
    <dgm:cxn modelId="{8FB10BE9-88D5-4755-87D1-4C3CF81ABA2B}" type="presOf" srcId="{7D7F268B-349F-4A7B-93DB-B4A379EB3AD1}" destId="{3666CBC6-3934-4BD9-BC6D-FB7B9442C263}" srcOrd="0" destOrd="0" presId="urn:microsoft.com/office/officeart/2005/8/layout/vList2"/>
    <dgm:cxn modelId="{5941B4EC-291E-46E3-B653-E98872B04507}" srcId="{287952FA-D5DF-422A-A8E0-2EE83E1B87DD}" destId="{7D7F268B-349F-4A7B-93DB-B4A379EB3AD1}" srcOrd="0" destOrd="0" parTransId="{35B68926-4059-4495-A22A-2DDFA6C083A1}" sibTransId="{D779B750-B945-4975-855C-44A74BD440F3}"/>
    <dgm:cxn modelId="{0F4229ED-752C-4416-9E8B-6EC9E9B47198}" srcId="{FEAAA5FC-1E23-4BAB-B5A3-74EAA96D6191}" destId="{59F42168-7667-442E-A67C-643934DF6C4B}" srcOrd="0" destOrd="0" parTransId="{A11B5806-C9E6-42DA-98A7-DFC7F6D6E7A5}" sibTransId="{CC4AB22D-2C41-4E18-97A6-207D4735694D}"/>
    <dgm:cxn modelId="{8E6068ED-83E8-453F-B741-43FA0B771216}" type="presOf" srcId="{399A5D04-56E1-4DE0-BB2D-776035A098F6}" destId="{E24B7117-A377-48BA-A0EE-9B4F27185FE3}" srcOrd="0" destOrd="0" presId="urn:microsoft.com/office/officeart/2005/8/layout/vList2"/>
    <dgm:cxn modelId="{CA78C3FF-1189-4B71-B28B-4BA5DE93122D}" srcId="{399A5D04-56E1-4DE0-BB2D-776035A098F6}" destId="{58EAD19C-A829-4692-8A3D-959DFCAEC7C3}" srcOrd="0" destOrd="0" parTransId="{E654F421-C379-435A-9825-85A70ADEBE04}" sibTransId="{1EC4735B-F1D8-4047-B96F-D8D9C0169099}"/>
    <dgm:cxn modelId="{F83631F7-C4EC-46F1-84C0-D546C649AF6D}" type="presParOf" srcId="{49F410A0-B9A1-4992-AB8F-420F2D2BB5FE}" destId="{B9539908-A406-4F9C-B11C-B1204FB34230}" srcOrd="0" destOrd="0" presId="urn:microsoft.com/office/officeart/2005/8/layout/vList2"/>
    <dgm:cxn modelId="{5FCAB590-E83E-47D8-853F-6E84F0D190A2}" type="presParOf" srcId="{49F410A0-B9A1-4992-AB8F-420F2D2BB5FE}" destId="{BC904D02-0A72-4B2B-B193-FC5D472E2BA1}" srcOrd="1" destOrd="0" presId="urn:microsoft.com/office/officeart/2005/8/layout/vList2"/>
    <dgm:cxn modelId="{E64C339A-38E4-4AAF-98F3-78298AE2D673}" type="presParOf" srcId="{49F410A0-B9A1-4992-AB8F-420F2D2BB5FE}" destId="{103EDC78-6072-4669-9A28-CA0BDFE5F5D7}" srcOrd="2" destOrd="0" presId="urn:microsoft.com/office/officeart/2005/8/layout/vList2"/>
    <dgm:cxn modelId="{8176C637-1F90-47D1-AFD0-A20BE04CE134}" type="presParOf" srcId="{49F410A0-B9A1-4992-AB8F-420F2D2BB5FE}" destId="{3666CBC6-3934-4BD9-BC6D-FB7B9442C263}" srcOrd="3" destOrd="0" presId="urn:microsoft.com/office/officeart/2005/8/layout/vList2"/>
    <dgm:cxn modelId="{D0F18EDE-F7AF-4E24-854F-27BE8B005F13}" type="presParOf" srcId="{49F410A0-B9A1-4992-AB8F-420F2D2BB5FE}" destId="{E24B7117-A377-48BA-A0EE-9B4F27185FE3}" srcOrd="4" destOrd="0" presId="urn:microsoft.com/office/officeart/2005/8/layout/vList2"/>
    <dgm:cxn modelId="{9E4EE0BE-28E3-48B9-9976-AA78840F75B3}" type="presParOf" srcId="{49F410A0-B9A1-4992-AB8F-420F2D2BB5FE}" destId="{2E58E2E2-CBD5-4B67-AF8E-290453B42120}" srcOrd="5"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39908-A406-4F9C-B11C-B1204FB34230}">
      <dsp:nvSpPr>
        <dsp:cNvPr id="0" name=""/>
        <dsp:cNvSpPr/>
      </dsp:nvSpPr>
      <dsp:spPr>
        <a:xfrm>
          <a:off x="0" y="43622"/>
          <a:ext cx="10300314"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What our Team tends to do</a:t>
          </a:r>
          <a:endParaRPr lang="en-IN" sz="2200" kern="1200" dirty="0"/>
        </a:p>
      </dsp:txBody>
      <dsp:txXfrm>
        <a:off x="25759" y="69381"/>
        <a:ext cx="10248796" cy="476152"/>
      </dsp:txXfrm>
    </dsp:sp>
    <dsp:sp modelId="{BC904D02-0A72-4B2B-B193-FC5D472E2BA1}">
      <dsp:nvSpPr>
        <dsp:cNvPr id="0" name=""/>
        <dsp:cNvSpPr/>
      </dsp:nvSpPr>
      <dsp:spPr>
        <a:xfrm>
          <a:off x="0" y="571292"/>
          <a:ext cx="10300314" cy="842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035"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Times New Roman" panose="02020603050405020304" pitchFamily="18" charset="0"/>
              <a:cs typeface="Times New Roman" panose="02020603050405020304" pitchFamily="18" charset="0"/>
            </a:rPr>
            <a:t>Develop a system that estimates changes occurring when satellite observations are unavailable.
Combine satellite images with weather, terrain, and other geospatial data.
Create maps and timelines showing when and how changes may have occurred.</a:t>
          </a:r>
          <a:endParaRPr lang="en-IN" sz="1700" kern="1200" dirty="0">
            <a:latin typeface="Times New Roman" panose="02020603050405020304" pitchFamily="18" charset="0"/>
            <a:cs typeface="Times New Roman" panose="02020603050405020304" pitchFamily="18" charset="0"/>
          </a:endParaRPr>
        </a:p>
      </dsp:txBody>
      <dsp:txXfrm>
        <a:off x="0" y="571292"/>
        <a:ext cx="10300314" cy="842490"/>
      </dsp:txXfrm>
    </dsp:sp>
    <dsp:sp modelId="{103EDC78-6072-4669-9A28-CA0BDFE5F5D7}">
      <dsp:nvSpPr>
        <dsp:cNvPr id="0" name=""/>
        <dsp:cNvSpPr/>
      </dsp:nvSpPr>
      <dsp:spPr>
        <a:xfrm>
          <a:off x="0" y="1413782"/>
          <a:ext cx="10300314"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Improvements</a:t>
          </a:r>
          <a:endParaRPr lang="en-IN" sz="2200" kern="1200" dirty="0"/>
        </a:p>
      </dsp:txBody>
      <dsp:txXfrm>
        <a:off x="25759" y="1439541"/>
        <a:ext cx="10248796" cy="476152"/>
      </dsp:txXfrm>
    </dsp:sp>
    <dsp:sp modelId="{3666CBC6-3934-4BD9-BC6D-FB7B9442C263}">
      <dsp:nvSpPr>
        <dsp:cNvPr id="0" name=""/>
        <dsp:cNvSpPr/>
      </dsp:nvSpPr>
      <dsp:spPr>
        <a:xfrm>
          <a:off x="0" y="1941453"/>
          <a:ext cx="10300314" cy="102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035"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latin typeface="Times New Roman" panose="02020603050405020304" pitchFamily="18" charset="0"/>
              <a:cs typeface="Times New Roman" panose="02020603050405020304" pitchFamily="18" charset="0"/>
            </a:rPr>
            <a:t>Go beyond filling missing satellite images by estimating how changes developed during observation gaps.
Clearly distinguish actual observations from estimated information.
Show uncertainty in the results to avoid misleading users.
Improve the reconstruction of sudden changes that may be missed between satellite observations.</a:t>
          </a:r>
          <a:endParaRPr lang="en-IN" sz="1600" kern="1200" dirty="0">
            <a:latin typeface="Times New Roman" panose="02020603050405020304" pitchFamily="18" charset="0"/>
            <a:cs typeface="Times New Roman" panose="02020603050405020304" pitchFamily="18" charset="0"/>
          </a:endParaRPr>
        </a:p>
      </dsp:txBody>
      <dsp:txXfrm>
        <a:off x="0" y="1941453"/>
        <a:ext cx="10300314" cy="1024650"/>
      </dsp:txXfrm>
    </dsp:sp>
    <dsp:sp modelId="{E24B7117-A377-48BA-A0EE-9B4F27185FE3}">
      <dsp:nvSpPr>
        <dsp:cNvPr id="0" name=""/>
        <dsp:cNvSpPr/>
      </dsp:nvSpPr>
      <dsp:spPr>
        <a:xfrm>
          <a:off x="0" y="2966103"/>
          <a:ext cx="10300314"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 What Successful Improvement Should We Achieve?   </a:t>
          </a:r>
          <a:endParaRPr lang="en-IN" sz="2200" kern="1200" dirty="0"/>
        </a:p>
      </dsp:txBody>
      <dsp:txXfrm>
        <a:off x="25759" y="2991862"/>
        <a:ext cx="10248796" cy="476152"/>
      </dsp:txXfrm>
    </dsp:sp>
    <dsp:sp modelId="{2E58E2E2-CBD5-4B67-AF8E-290453B42120}">
      <dsp:nvSpPr>
        <dsp:cNvPr id="0" name=""/>
        <dsp:cNvSpPr/>
      </dsp:nvSpPr>
      <dsp:spPr>
        <a:xfrm>
          <a:off x="0" y="3493773"/>
          <a:ext cx="10300314" cy="1024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035"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latin typeface="Times New Roman" panose="02020603050405020304" pitchFamily="18" charset="0"/>
              <a:cs typeface="Times New Roman" panose="02020603050405020304" pitchFamily="18" charset="0"/>
            </a:rPr>
            <a:t>Build a working prototype that displays reconstructed changes through maps and timelines.
Estimate the likely timing and extent of changes while showing uncertainty.
Test the system using historical satellite data to evaluate its accuracy.
Demonstrate how the system could support infrastructure monitoring, transportation planning, and urban development.</a:t>
          </a:r>
          <a:endParaRPr lang="en-IN" sz="1600" kern="1200" dirty="0">
            <a:latin typeface="Times New Roman" panose="02020603050405020304" pitchFamily="18" charset="0"/>
            <a:cs typeface="Times New Roman" panose="02020603050405020304" pitchFamily="18" charset="0"/>
          </a:endParaRPr>
        </a:p>
      </dsp:txBody>
      <dsp:txXfrm>
        <a:off x="0" y="3493773"/>
        <a:ext cx="10300314" cy="10246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560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IN"/>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lang="en-IN"/>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lang="en-IN"/>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lang="en-IN"/>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lang="en-IN"/>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lang="en-IN"/>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lang="en-IN"/>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lang="en-IN"/>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lang="en-IN"/>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111967" y="3509712"/>
            <a:ext cx="9647853" cy="3189668"/>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Nexova</a:t>
            </a:r>
            <a:endParaRPr lang="en-US" sz="1800" dirty="0"/>
          </a:p>
          <a:p>
            <a:pPr marL="279400" indent="-279400">
              <a:spcAft>
                <a:spcPts val="1400"/>
              </a:spcAft>
              <a:buClr>
                <a:schemeClr val="accent3"/>
              </a:buClr>
              <a:buSzPct val="100000"/>
              <a:buChar char="•"/>
            </a:pPr>
            <a:r>
              <a:rPr lang="en-US" sz="1800" dirty="0">
                <a:solidFill>
                  <a:schemeClr val="bg1"/>
                </a:solidFill>
              </a:rPr>
              <a:t>Team Members – R Sanjay – CB.SC.U4CSE25239</a:t>
            </a:r>
          </a:p>
          <a:p>
            <a:pPr>
              <a:spcAft>
                <a:spcPts val="1400"/>
              </a:spcAft>
              <a:buClr>
                <a:schemeClr val="accent3"/>
              </a:buClr>
              <a:buSzPct val="100000"/>
            </a:pPr>
            <a:r>
              <a:rPr lang="en-US" dirty="0">
                <a:solidFill>
                  <a:schemeClr val="bg1"/>
                </a:solidFill>
              </a:rPr>
              <a:t>                                      Pawish.P-CB.SC.U4CSE25236</a:t>
            </a:r>
          </a:p>
          <a:p>
            <a:pPr>
              <a:spcAft>
                <a:spcPts val="1400"/>
              </a:spcAft>
              <a:buClr>
                <a:schemeClr val="accent3"/>
              </a:buClr>
              <a:buSzPct val="100000"/>
            </a:pPr>
            <a:r>
              <a:rPr lang="en-US" sz="1800" dirty="0">
                <a:solidFill>
                  <a:schemeClr val="bg1"/>
                </a:solidFill>
              </a:rPr>
              <a:t>                                      </a:t>
            </a:r>
            <a:r>
              <a:rPr lang="en-US" sz="1800" dirty="0" err="1">
                <a:solidFill>
                  <a:schemeClr val="bg1"/>
                </a:solidFill>
              </a:rPr>
              <a:t>Praniga</a:t>
            </a:r>
            <a:r>
              <a:rPr lang="en-US" sz="1800" dirty="0">
                <a:solidFill>
                  <a:schemeClr val="bg1"/>
                </a:solidFill>
              </a:rPr>
              <a:t> R-CB.SC.U4CSE2537</a:t>
            </a:r>
          </a:p>
          <a:p>
            <a:pPr>
              <a:spcAft>
                <a:spcPts val="1400"/>
              </a:spcAft>
              <a:buClr>
                <a:schemeClr val="accent3"/>
              </a:buClr>
              <a:buSzPct val="100000"/>
            </a:pPr>
            <a:r>
              <a:rPr lang="en-US" dirty="0">
                <a:solidFill>
                  <a:schemeClr val="bg1"/>
                </a:solidFill>
              </a:rPr>
              <a:t>                                      Sivani S-CB.SC.U4CSE25246</a:t>
            </a:r>
            <a:endParaRPr lang="en-US" sz="1800" dirty="0"/>
          </a:p>
          <a:p>
            <a:pPr marL="279400" indent="-279400">
              <a:spcAft>
                <a:spcPts val="1400"/>
              </a:spcAft>
              <a:buClr>
                <a:schemeClr val="accent3"/>
              </a:buClr>
              <a:buSzPct val="100000"/>
              <a:buChar char="•"/>
            </a:pPr>
            <a:r>
              <a:rPr lang="en-US" sz="1800" dirty="0">
                <a:solidFill>
                  <a:schemeClr val="bg1"/>
                </a:solidFill>
              </a:rPr>
              <a:t>Selected Domain – Domain 8 (Space , Aerospace , Mobility and Next-Gen Infrastructure)</a:t>
            </a:r>
            <a:endParaRPr lang="en-US" sz="1800" dirty="0"/>
          </a:p>
          <a:p>
            <a:r>
              <a:rPr lang="en-US" sz="1800" dirty="0">
                <a:solidFill>
                  <a:schemeClr val="bg1"/>
                </a:solidFill>
              </a:rPr>
              <a:t>Problem Statement – </a:t>
            </a:r>
            <a:r>
              <a:rPr lang="en-IN" b="1" dirty="0">
                <a:solidFill>
                  <a:schemeClr val="bg1">
                    <a:lumMod val="95000"/>
                  </a:schemeClr>
                </a:solidFill>
              </a:rPr>
              <a:t>What Did the Satellite Miss? — Intelligent Detection of Unobserved Earth Events</a:t>
            </a:r>
          </a:p>
          <a:p>
            <a:pPr>
              <a:spcAft>
                <a:spcPts val="1400"/>
              </a:spcAft>
              <a:buClr>
                <a:schemeClr val="accent3"/>
              </a:buClr>
              <a:buSzPct val="100000"/>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467905"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sp>
        <p:nvSpPr>
          <p:cNvPr id="12" name="Flowchart: Alternate Process 11">
            <a:extLst>
              <a:ext uri="{FF2B5EF4-FFF2-40B4-BE49-F238E27FC236}">
                <a16:creationId xmlns:a16="http://schemas.microsoft.com/office/drawing/2014/main" id="{CF0C682F-B536-9B6D-4A5F-4A7AD4DF78F6}"/>
              </a:ext>
            </a:extLst>
          </p:cNvPr>
          <p:cNvSpPr/>
          <p:nvPr/>
        </p:nvSpPr>
        <p:spPr>
          <a:xfrm>
            <a:off x="214604" y="1920240"/>
            <a:ext cx="11709918" cy="4256625"/>
          </a:xfrm>
          <a:prstGeom prst="flowChartAlternateProcess">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b="1" dirty="0">
                <a:solidFill>
                  <a:schemeClr val="accent2"/>
                </a:solidFill>
              </a:rPr>
              <a:t>Problem-Statement Explanation : </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3" name="TextBox 12">
            <a:extLst>
              <a:ext uri="{FF2B5EF4-FFF2-40B4-BE49-F238E27FC236}">
                <a16:creationId xmlns:a16="http://schemas.microsoft.com/office/drawing/2014/main" id="{346BB73E-6AA6-002D-5086-6A24E02B9AE0}"/>
              </a:ext>
            </a:extLst>
          </p:cNvPr>
          <p:cNvSpPr txBox="1"/>
          <p:nvPr/>
        </p:nvSpPr>
        <p:spPr>
          <a:xfrm>
            <a:off x="548640" y="1983389"/>
            <a:ext cx="10954139" cy="4093428"/>
          </a:xfrm>
          <a:prstGeom prst="rect">
            <a:avLst/>
          </a:prstGeom>
          <a:noFill/>
        </p:spPr>
        <p:txBody>
          <a:bodyPr wrap="square" rtlCol="0">
            <a:spAutoFit/>
          </a:bodyPr>
          <a:lstStyle/>
          <a:p>
            <a:r>
              <a:rPr lang="en-IN" sz="2000" b="1" u="sng" dirty="0"/>
              <a:t>What needs to be solved?</a:t>
            </a:r>
          </a:p>
          <a:p>
            <a:pPr marL="285750" lvl="0" indent="-285750">
              <a:buFont typeface="Arial" panose="020B0604020202020204" pitchFamily="34" charset="0"/>
              <a:buChar char="•"/>
            </a:pPr>
            <a:r>
              <a:rPr lang="en-IN" sz="2000" dirty="0"/>
              <a:t>Satellites </a:t>
            </a:r>
            <a:r>
              <a:rPr lang="en-IN" sz="2000" b="1" dirty="0"/>
              <a:t>cannot observe every place continuously</a:t>
            </a:r>
            <a:r>
              <a:rPr lang="en-IN" sz="2000" dirty="0"/>
              <a:t> because of revisit time, clouds, darkness, and sensor limitations.</a:t>
            </a:r>
          </a:p>
          <a:p>
            <a:pPr marL="285750" lvl="0" indent="-285750">
              <a:buFont typeface="Arial" panose="020B0604020202020204" pitchFamily="34" charset="0"/>
              <a:buChar char="•"/>
            </a:pPr>
            <a:r>
              <a:rPr lang="en-IN" sz="2000" dirty="0"/>
              <a:t>Important changes can happen during these </a:t>
            </a:r>
            <a:r>
              <a:rPr lang="en-IN" sz="2000" b="1" dirty="0"/>
              <a:t>observation gaps</a:t>
            </a:r>
            <a:r>
              <a:rPr lang="en-IN" sz="2000" dirty="0"/>
              <a:t>.</a:t>
            </a:r>
          </a:p>
          <a:p>
            <a:pPr marL="285750" lvl="0" indent="-285750">
              <a:buFont typeface="Arial" panose="020B0604020202020204" pitchFamily="34" charset="0"/>
              <a:buChar char="•"/>
            </a:pPr>
            <a:r>
              <a:rPr lang="en-IN" sz="2000" dirty="0"/>
              <a:t>The system should use available </a:t>
            </a:r>
            <a:r>
              <a:rPr lang="en-IN" sz="2000" b="1" dirty="0"/>
              <a:t>satellite and geospatial data</a:t>
            </a:r>
            <a:r>
              <a:rPr lang="en-IN" sz="2000" dirty="0"/>
              <a:t> to estimate </a:t>
            </a:r>
            <a:r>
              <a:rPr lang="en-IN" sz="2000" b="1" dirty="0"/>
              <a:t>what happened, when it happened, and how it changed</a:t>
            </a:r>
            <a:r>
              <a:rPr lang="en-IN" sz="2000" dirty="0"/>
              <a:t> during the gap.</a:t>
            </a:r>
          </a:p>
          <a:p>
            <a:pPr marL="285750" lvl="0" indent="-285750">
              <a:buFont typeface="Arial" panose="020B0604020202020204" pitchFamily="34" charset="0"/>
              <a:buChar char="•"/>
            </a:pPr>
            <a:r>
              <a:rPr lang="en-IN" sz="2000" dirty="0"/>
              <a:t>It should clearly show </a:t>
            </a:r>
            <a:r>
              <a:rPr lang="en-IN" sz="2000" b="1" dirty="0"/>
              <a:t>what is confirmed and what is only inferred</a:t>
            </a:r>
            <a:r>
              <a:rPr lang="en-IN" sz="2000" dirty="0"/>
              <a:t>.</a:t>
            </a:r>
          </a:p>
          <a:p>
            <a:r>
              <a:rPr lang="en-IN" sz="2000" b="1" u="sng" dirty="0"/>
              <a:t>Why is it important?</a:t>
            </a:r>
          </a:p>
          <a:p>
            <a:pPr marL="285750" lvl="0" indent="-285750">
              <a:buFont typeface="Arial" panose="020B0604020202020204" pitchFamily="34" charset="0"/>
              <a:buChar char="•"/>
            </a:pPr>
            <a:r>
              <a:rPr lang="en-IN" sz="2000" dirty="0"/>
              <a:t>Missing observations can make it difficult to understand </a:t>
            </a:r>
            <a:r>
              <a:rPr lang="en-IN" sz="2000" b="1" dirty="0"/>
              <a:t>how quickly an event started or spread</a:t>
            </a:r>
            <a:r>
              <a:rPr lang="en-IN" sz="2000" dirty="0"/>
              <a:t>.</a:t>
            </a:r>
          </a:p>
          <a:p>
            <a:pPr marL="285750" lvl="0" indent="-285750">
              <a:buFont typeface="Arial" panose="020B0604020202020204" pitchFamily="34" charset="0"/>
              <a:buChar char="•"/>
            </a:pPr>
            <a:r>
              <a:rPr lang="en-IN" sz="2000" dirty="0"/>
              <a:t>Useful for </a:t>
            </a:r>
            <a:r>
              <a:rPr lang="en-IN" sz="2000" b="1" dirty="0"/>
              <a:t>floods, landslides, forest fires, agriculture, deforestation, water bodies, urban changes and infrastructure monitoring</a:t>
            </a:r>
            <a:r>
              <a:rPr lang="en-IN" sz="2000" dirty="0"/>
              <a:t>.</a:t>
            </a:r>
          </a:p>
          <a:p>
            <a:pPr marL="285750" lvl="0" indent="-285750">
              <a:buFont typeface="Arial" panose="020B0604020202020204" pitchFamily="34" charset="0"/>
              <a:buChar char="•"/>
            </a:pPr>
            <a:r>
              <a:rPr lang="en-IN" sz="2000" dirty="0"/>
              <a:t>It provides a </a:t>
            </a:r>
            <a:r>
              <a:rPr lang="en-IN" sz="2000" b="1" dirty="0"/>
              <a:t>more continuous picture of Earth’s changes</a:t>
            </a:r>
            <a:r>
              <a:rPr lang="en-IN" sz="2000" dirty="0"/>
              <a:t> instead of depending only on before-and-after images.</a:t>
            </a:r>
          </a:p>
        </p:txBody>
      </p:sp>
      <p:sp>
        <p:nvSpPr>
          <p:cNvPr id="14" name="Team Name">
            <a:extLst>
              <a:ext uri="{FF2B5EF4-FFF2-40B4-BE49-F238E27FC236}">
                <a16:creationId xmlns:a16="http://schemas.microsoft.com/office/drawing/2014/main" id="{AFACCB76-7F76-A3A6-D3DF-9A06769CCA7E}"/>
              </a:ext>
            </a:extLst>
          </p:cNvPr>
          <p:cNvSpPr txBox="1"/>
          <p:nvPr/>
        </p:nvSpPr>
        <p:spPr>
          <a:xfrm>
            <a:off x="1417320" y="433711"/>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22471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
        <p:nvSpPr>
          <p:cNvPr id="7" name="Lead Icon Hex"/>
          <p:cNvSpPr/>
          <p:nvPr/>
        </p:nvSpPr>
        <p:spPr>
          <a:xfrm>
            <a:off x="548640" y="1268492"/>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348290"/>
            <a:ext cx="274320" cy="274320"/>
          </a:xfrm>
          <a:prstGeom prst="rect">
            <a:avLst/>
          </a:prstGeom>
        </p:spPr>
      </p:pic>
      <p:sp>
        <p:nvSpPr>
          <p:cNvPr id="9" name="Lead Text"/>
          <p:cNvSpPr txBox="1"/>
          <p:nvPr/>
        </p:nvSpPr>
        <p:spPr>
          <a:xfrm>
            <a:off x="1082880" y="1203312"/>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grpSp>
        <p:nvGrpSpPr>
          <p:cNvPr id="11" name="Group 18">
            <a:extLst>
              <a:ext uri="{FF2B5EF4-FFF2-40B4-BE49-F238E27FC236}">
                <a16:creationId xmlns:a16="http://schemas.microsoft.com/office/drawing/2014/main" id="{FB22330D-C93D-3C94-61AC-D5A3C85F4533}"/>
              </a:ext>
            </a:extLst>
          </p:cNvPr>
          <p:cNvGrpSpPr/>
          <p:nvPr/>
        </p:nvGrpSpPr>
        <p:grpSpPr>
          <a:xfrm>
            <a:off x="279918" y="2225351"/>
            <a:ext cx="5402425" cy="2645473"/>
            <a:chOff x="0" y="0"/>
            <a:chExt cx="2721404" cy="1996262"/>
          </a:xfrm>
        </p:grpSpPr>
        <p:sp>
          <p:nvSpPr>
            <p:cNvPr id="12" name="Freeform 19">
              <a:extLst>
                <a:ext uri="{FF2B5EF4-FFF2-40B4-BE49-F238E27FC236}">
                  <a16:creationId xmlns:a16="http://schemas.microsoft.com/office/drawing/2014/main" id="{7A025A89-AC50-68F7-1A63-9EF9FC294CB2}"/>
                </a:ext>
              </a:extLst>
            </p:cNvPr>
            <p:cNvSpPr/>
            <p:nvPr/>
          </p:nvSpPr>
          <p:spPr>
            <a:xfrm>
              <a:off x="0" y="0"/>
              <a:ext cx="2721404" cy="1996262"/>
            </a:xfrm>
            <a:custGeom>
              <a:avLst/>
              <a:gdLst/>
              <a:ahLst/>
              <a:cxnLst/>
              <a:rect l="l" t="t" r="r" b="b"/>
              <a:pathLst>
                <a:path w="2721404" h="1996262">
                  <a:moveTo>
                    <a:pt x="38212" y="0"/>
                  </a:moveTo>
                  <a:lnTo>
                    <a:pt x="2683192" y="0"/>
                  </a:lnTo>
                  <a:cubicBezTo>
                    <a:pt x="2693326" y="0"/>
                    <a:pt x="2703045" y="4026"/>
                    <a:pt x="2710212" y="11192"/>
                  </a:cubicBezTo>
                  <a:cubicBezTo>
                    <a:pt x="2717378" y="18358"/>
                    <a:pt x="2721404" y="28078"/>
                    <a:pt x="2721404" y="38212"/>
                  </a:cubicBezTo>
                  <a:lnTo>
                    <a:pt x="2721404" y="1958050"/>
                  </a:lnTo>
                  <a:cubicBezTo>
                    <a:pt x="2721404" y="1968185"/>
                    <a:pt x="2717378" y="1977904"/>
                    <a:pt x="2710212" y="1985070"/>
                  </a:cubicBezTo>
                  <a:cubicBezTo>
                    <a:pt x="2703045" y="1992236"/>
                    <a:pt x="2693326" y="1996262"/>
                    <a:pt x="2683192" y="1996262"/>
                  </a:cubicBezTo>
                  <a:lnTo>
                    <a:pt x="38212" y="1996262"/>
                  </a:lnTo>
                  <a:cubicBezTo>
                    <a:pt x="28078" y="1996262"/>
                    <a:pt x="18358" y="1992236"/>
                    <a:pt x="11192" y="1985070"/>
                  </a:cubicBezTo>
                  <a:cubicBezTo>
                    <a:pt x="4026" y="1977904"/>
                    <a:pt x="0" y="1968185"/>
                    <a:pt x="0" y="1958050"/>
                  </a:cubicBezTo>
                  <a:lnTo>
                    <a:pt x="0" y="38212"/>
                  </a:lnTo>
                  <a:cubicBezTo>
                    <a:pt x="0" y="28078"/>
                    <a:pt x="4026" y="18358"/>
                    <a:pt x="11192" y="11192"/>
                  </a:cubicBezTo>
                  <a:cubicBezTo>
                    <a:pt x="18358" y="4026"/>
                    <a:pt x="28078" y="0"/>
                    <a:pt x="38212" y="0"/>
                  </a:cubicBezTo>
                  <a:close/>
                </a:path>
              </a:pathLst>
            </a:custGeom>
            <a:solidFill>
              <a:srgbClr val="FFFFFF"/>
            </a:solidFill>
            <a:ln w="38100" cap="rnd">
              <a:solidFill>
                <a:srgbClr val="000000"/>
              </a:solidFill>
              <a:prstDash val="solid"/>
              <a:round/>
            </a:ln>
          </p:spPr>
        </p:sp>
        <p:sp>
          <p:nvSpPr>
            <p:cNvPr id="13" name="TextBox 20">
              <a:extLst>
                <a:ext uri="{FF2B5EF4-FFF2-40B4-BE49-F238E27FC236}">
                  <a16:creationId xmlns:a16="http://schemas.microsoft.com/office/drawing/2014/main" id="{F985E4BC-B4B1-C39E-1269-1A91431A474F}"/>
                </a:ext>
              </a:extLst>
            </p:cNvPr>
            <p:cNvSpPr txBox="1"/>
            <p:nvPr/>
          </p:nvSpPr>
          <p:spPr>
            <a:xfrm>
              <a:off x="0" y="-19050"/>
              <a:ext cx="2721404" cy="2015312"/>
            </a:xfrm>
            <a:prstGeom prst="rect">
              <a:avLst/>
            </a:prstGeom>
          </p:spPr>
          <p:txBody>
            <a:bodyPr lIns="50800" tIns="50800" rIns="50800" bIns="50800" rtlCol="0" anchor="ctr"/>
            <a:lstStyle/>
            <a:p>
              <a:pPr algn="ctr">
                <a:lnSpc>
                  <a:spcPts val="2160"/>
                </a:lnSpc>
              </a:pPr>
              <a:endParaRPr/>
            </a:p>
          </p:txBody>
        </p:sp>
      </p:grpSp>
      <p:grpSp>
        <p:nvGrpSpPr>
          <p:cNvPr id="14" name="Group 21">
            <a:extLst>
              <a:ext uri="{FF2B5EF4-FFF2-40B4-BE49-F238E27FC236}">
                <a16:creationId xmlns:a16="http://schemas.microsoft.com/office/drawing/2014/main" id="{DE9B956F-6FE9-233D-8D4B-E21BABE92ED3}"/>
              </a:ext>
            </a:extLst>
          </p:cNvPr>
          <p:cNvGrpSpPr/>
          <p:nvPr/>
        </p:nvGrpSpPr>
        <p:grpSpPr>
          <a:xfrm>
            <a:off x="615962" y="1754760"/>
            <a:ext cx="4894555" cy="1051706"/>
            <a:chOff x="0" y="-19050"/>
            <a:chExt cx="1289101" cy="276993"/>
          </a:xfrm>
        </p:grpSpPr>
        <p:sp>
          <p:nvSpPr>
            <p:cNvPr id="15" name="Freeform 22">
              <a:extLst>
                <a:ext uri="{FF2B5EF4-FFF2-40B4-BE49-F238E27FC236}">
                  <a16:creationId xmlns:a16="http://schemas.microsoft.com/office/drawing/2014/main" id="{F025C6AF-B2FA-16D2-F1C7-10A061DEFA61}"/>
                </a:ext>
              </a:extLst>
            </p:cNvPr>
            <p:cNvSpPr/>
            <p:nvPr/>
          </p:nvSpPr>
          <p:spPr>
            <a:xfrm>
              <a:off x="78601" y="24259"/>
              <a:ext cx="1117524" cy="163378"/>
            </a:xfrm>
            <a:custGeom>
              <a:avLst/>
              <a:gdLst/>
              <a:ahLst/>
              <a:cxnLst/>
              <a:rect l="l" t="t" r="r" b="b"/>
              <a:pathLst>
                <a:path w="1289101" h="257943">
                  <a:moveTo>
                    <a:pt x="1085901" y="0"/>
                  </a:moveTo>
                  <a:cubicBezTo>
                    <a:pt x="1198125" y="0"/>
                    <a:pt x="1289101" y="57742"/>
                    <a:pt x="1289101" y="128971"/>
                  </a:cubicBezTo>
                  <a:cubicBezTo>
                    <a:pt x="1289101" y="200200"/>
                    <a:pt x="1198125" y="257943"/>
                    <a:pt x="1085901" y="257943"/>
                  </a:cubicBezTo>
                  <a:lnTo>
                    <a:pt x="203200" y="257943"/>
                  </a:lnTo>
                  <a:cubicBezTo>
                    <a:pt x="90976" y="257943"/>
                    <a:pt x="0" y="200200"/>
                    <a:pt x="0" y="128971"/>
                  </a:cubicBezTo>
                  <a:cubicBezTo>
                    <a:pt x="0" y="57742"/>
                    <a:pt x="90976" y="0"/>
                    <a:pt x="203200" y="0"/>
                  </a:cubicBezTo>
                  <a:close/>
                </a:path>
              </a:pathLst>
            </a:custGeom>
            <a:gradFill>
              <a:gsLst>
                <a:gs pos="0">
                  <a:schemeClr val="accent1"/>
                </a:gs>
                <a:gs pos="100000">
                  <a:schemeClr val="accent3"/>
                </a:gs>
              </a:gsLst>
              <a:lin ang="0" scaled="0"/>
            </a:gradFill>
          </p:spPr>
          <p:style>
            <a:lnRef idx="2">
              <a:schemeClr val="accent4">
                <a:shade val="15000"/>
              </a:schemeClr>
            </a:lnRef>
            <a:fillRef idx="1">
              <a:schemeClr val="accent4"/>
            </a:fillRef>
            <a:effectRef idx="0">
              <a:schemeClr val="accent4"/>
            </a:effectRef>
            <a:fontRef idx="minor">
              <a:schemeClr val="lt1"/>
            </a:fontRef>
          </p:style>
        </p:sp>
        <p:sp>
          <p:nvSpPr>
            <p:cNvPr id="16" name="TextBox 23">
              <a:extLst>
                <a:ext uri="{FF2B5EF4-FFF2-40B4-BE49-F238E27FC236}">
                  <a16:creationId xmlns:a16="http://schemas.microsoft.com/office/drawing/2014/main" id="{52AEE5D2-AA39-6EEF-7D64-B16B105D9F3D}"/>
                </a:ext>
              </a:extLst>
            </p:cNvPr>
            <p:cNvSpPr txBox="1"/>
            <p:nvPr/>
          </p:nvSpPr>
          <p:spPr>
            <a:xfrm>
              <a:off x="0" y="-19050"/>
              <a:ext cx="1289101" cy="276993"/>
            </a:xfrm>
            <a:prstGeom prst="rect">
              <a:avLst/>
            </a:prstGeom>
          </p:spPr>
          <p:txBody>
            <a:bodyPr lIns="50800" tIns="50800" rIns="50800" bIns="50800" rtlCol="0" anchor="ctr"/>
            <a:lstStyle/>
            <a:p>
              <a:pPr algn="ctr">
                <a:lnSpc>
                  <a:spcPts val="2160"/>
                </a:lnSpc>
              </a:pPr>
              <a:endParaRPr/>
            </a:p>
          </p:txBody>
        </p:sp>
      </p:grpSp>
      <p:grpSp>
        <p:nvGrpSpPr>
          <p:cNvPr id="17" name="Group 18">
            <a:extLst>
              <a:ext uri="{FF2B5EF4-FFF2-40B4-BE49-F238E27FC236}">
                <a16:creationId xmlns:a16="http://schemas.microsoft.com/office/drawing/2014/main" id="{7C1BE808-062B-E93C-11DD-117C163473CB}"/>
              </a:ext>
            </a:extLst>
          </p:cNvPr>
          <p:cNvGrpSpPr/>
          <p:nvPr/>
        </p:nvGrpSpPr>
        <p:grpSpPr>
          <a:xfrm>
            <a:off x="5971032" y="2187554"/>
            <a:ext cx="5941050" cy="2683270"/>
            <a:chOff x="0" y="0"/>
            <a:chExt cx="2721404" cy="1996262"/>
          </a:xfrm>
        </p:grpSpPr>
        <p:sp>
          <p:nvSpPr>
            <p:cNvPr id="18" name="Freeform 19">
              <a:extLst>
                <a:ext uri="{FF2B5EF4-FFF2-40B4-BE49-F238E27FC236}">
                  <a16:creationId xmlns:a16="http://schemas.microsoft.com/office/drawing/2014/main" id="{E6A32B54-50B0-D518-73A5-5A3FA5C5C96A}"/>
                </a:ext>
              </a:extLst>
            </p:cNvPr>
            <p:cNvSpPr/>
            <p:nvPr/>
          </p:nvSpPr>
          <p:spPr>
            <a:xfrm>
              <a:off x="0" y="0"/>
              <a:ext cx="2721404" cy="1996262"/>
            </a:xfrm>
            <a:custGeom>
              <a:avLst/>
              <a:gdLst/>
              <a:ahLst/>
              <a:cxnLst/>
              <a:rect l="l" t="t" r="r" b="b"/>
              <a:pathLst>
                <a:path w="2721404" h="1996262">
                  <a:moveTo>
                    <a:pt x="38212" y="0"/>
                  </a:moveTo>
                  <a:lnTo>
                    <a:pt x="2683192" y="0"/>
                  </a:lnTo>
                  <a:cubicBezTo>
                    <a:pt x="2693326" y="0"/>
                    <a:pt x="2703045" y="4026"/>
                    <a:pt x="2710212" y="11192"/>
                  </a:cubicBezTo>
                  <a:cubicBezTo>
                    <a:pt x="2717378" y="18358"/>
                    <a:pt x="2721404" y="28078"/>
                    <a:pt x="2721404" y="38212"/>
                  </a:cubicBezTo>
                  <a:lnTo>
                    <a:pt x="2721404" y="1958050"/>
                  </a:lnTo>
                  <a:cubicBezTo>
                    <a:pt x="2721404" y="1968185"/>
                    <a:pt x="2717378" y="1977904"/>
                    <a:pt x="2710212" y="1985070"/>
                  </a:cubicBezTo>
                  <a:cubicBezTo>
                    <a:pt x="2703045" y="1992236"/>
                    <a:pt x="2693326" y="1996262"/>
                    <a:pt x="2683192" y="1996262"/>
                  </a:cubicBezTo>
                  <a:lnTo>
                    <a:pt x="38212" y="1996262"/>
                  </a:lnTo>
                  <a:cubicBezTo>
                    <a:pt x="28078" y="1996262"/>
                    <a:pt x="18358" y="1992236"/>
                    <a:pt x="11192" y="1985070"/>
                  </a:cubicBezTo>
                  <a:cubicBezTo>
                    <a:pt x="4026" y="1977904"/>
                    <a:pt x="0" y="1968185"/>
                    <a:pt x="0" y="1958050"/>
                  </a:cubicBezTo>
                  <a:lnTo>
                    <a:pt x="0" y="38212"/>
                  </a:lnTo>
                  <a:cubicBezTo>
                    <a:pt x="0" y="28078"/>
                    <a:pt x="4026" y="18358"/>
                    <a:pt x="11192" y="11192"/>
                  </a:cubicBezTo>
                  <a:cubicBezTo>
                    <a:pt x="18358" y="4026"/>
                    <a:pt x="28078" y="0"/>
                    <a:pt x="38212" y="0"/>
                  </a:cubicBezTo>
                  <a:close/>
                </a:path>
              </a:pathLst>
            </a:custGeom>
            <a:solidFill>
              <a:srgbClr val="FFFFFF"/>
            </a:solidFill>
            <a:ln w="38100" cap="rnd">
              <a:solidFill>
                <a:srgbClr val="000000"/>
              </a:solidFill>
              <a:prstDash val="solid"/>
              <a:round/>
            </a:ln>
          </p:spPr>
        </p:sp>
        <p:sp>
          <p:nvSpPr>
            <p:cNvPr id="19" name="TextBox 20">
              <a:extLst>
                <a:ext uri="{FF2B5EF4-FFF2-40B4-BE49-F238E27FC236}">
                  <a16:creationId xmlns:a16="http://schemas.microsoft.com/office/drawing/2014/main" id="{03B2BEF7-B657-DF93-0315-C78474456484}"/>
                </a:ext>
              </a:extLst>
            </p:cNvPr>
            <p:cNvSpPr txBox="1"/>
            <p:nvPr/>
          </p:nvSpPr>
          <p:spPr>
            <a:xfrm>
              <a:off x="0" y="-19050"/>
              <a:ext cx="2721404" cy="2015312"/>
            </a:xfrm>
            <a:prstGeom prst="rect">
              <a:avLst/>
            </a:prstGeom>
          </p:spPr>
          <p:txBody>
            <a:bodyPr lIns="50800" tIns="50800" rIns="50800" bIns="50800" rtlCol="0" anchor="ctr"/>
            <a:lstStyle/>
            <a:p>
              <a:pPr algn="ctr">
                <a:lnSpc>
                  <a:spcPts val="2160"/>
                </a:lnSpc>
              </a:pPr>
              <a:endParaRPr/>
            </a:p>
          </p:txBody>
        </p:sp>
      </p:grpSp>
      <p:grpSp>
        <p:nvGrpSpPr>
          <p:cNvPr id="20" name="Group 21">
            <a:extLst>
              <a:ext uri="{FF2B5EF4-FFF2-40B4-BE49-F238E27FC236}">
                <a16:creationId xmlns:a16="http://schemas.microsoft.com/office/drawing/2014/main" id="{ABC3EAA9-44FF-592A-E80A-3714F04B7710}"/>
              </a:ext>
            </a:extLst>
          </p:cNvPr>
          <p:cNvGrpSpPr/>
          <p:nvPr/>
        </p:nvGrpSpPr>
        <p:grpSpPr>
          <a:xfrm>
            <a:off x="6236813" y="1722964"/>
            <a:ext cx="4894555" cy="1051706"/>
            <a:chOff x="0" y="-19050"/>
            <a:chExt cx="1289101" cy="276993"/>
          </a:xfrm>
        </p:grpSpPr>
        <p:sp>
          <p:nvSpPr>
            <p:cNvPr id="21" name="Freeform 22">
              <a:extLst>
                <a:ext uri="{FF2B5EF4-FFF2-40B4-BE49-F238E27FC236}">
                  <a16:creationId xmlns:a16="http://schemas.microsoft.com/office/drawing/2014/main" id="{3E4348AC-1A2A-6593-14C6-476BFB4DD2A3}"/>
                </a:ext>
              </a:extLst>
            </p:cNvPr>
            <p:cNvSpPr/>
            <p:nvPr/>
          </p:nvSpPr>
          <p:spPr>
            <a:xfrm>
              <a:off x="78601" y="24259"/>
              <a:ext cx="1117524" cy="163378"/>
            </a:xfrm>
            <a:custGeom>
              <a:avLst/>
              <a:gdLst/>
              <a:ahLst/>
              <a:cxnLst/>
              <a:rect l="l" t="t" r="r" b="b"/>
              <a:pathLst>
                <a:path w="1289101" h="257943">
                  <a:moveTo>
                    <a:pt x="1085901" y="0"/>
                  </a:moveTo>
                  <a:cubicBezTo>
                    <a:pt x="1198125" y="0"/>
                    <a:pt x="1289101" y="57742"/>
                    <a:pt x="1289101" y="128971"/>
                  </a:cubicBezTo>
                  <a:cubicBezTo>
                    <a:pt x="1289101" y="200200"/>
                    <a:pt x="1198125" y="257943"/>
                    <a:pt x="1085901" y="257943"/>
                  </a:cubicBezTo>
                  <a:lnTo>
                    <a:pt x="203200" y="257943"/>
                  </a:lnTo>
                  <a:cubicBezTo>
                    <a:pt x="90976" y="257943"/>
                    <a:pt x="0" y="200200"/>
                    <a:pt x="0" y="128971"/>
                  </a:cubicBezTo>
                  <a:cubicBezTo>
                    <a:pt x="0" y="57742"/>
                    <a:pt x="90976" y="0"/>
                    <a:pt x="203200" y="0"/>
                  </a:cubicBezTo>
                  <a:close/>
                </a:path>
              </a:pathLst>
            </a:custGeom>
            <a:gradFill>
              <a:gsLst>
                <a:gs pos="0">
                  <a:schemeClr val="accent1"/>
                </a:gs>
                <a:gs pos="100000">
                  <a:schemeClr val="accent3"/>
                </a:gs>
              </a:gsLst>
              <a:lin ang="0" scaled="0"/>
            </a:gradFill>
          </p:spPr>
          <p:style>
            <a:lnRef idx="2">
              <a:schemeClr val="accent4">
                <a:shade val="15000"/>
              </a:schemeClr>
            </a:lnRef>
            <a:fillRef idx="1">
              <a:schemeClr val="accent4"/>
            </a:fillRef>
            <a:effectRef idx="0">
              <a:schemeClr val="accent4"/>
            </a:effectRef>
            <a:fontRef idx="minor">
              <a:schemeClr val="lt1"/>
            </a:fontRef>
          </p:style>
        </p:sp>
        <p:sp>
          <p:nvSpPr>
            <p:cNvPr id="22" name="TextBox 23">
              <a:extLst>
                <a:ext uri="{FF2B5EF4-FFF2-40B4-BE49-F238E27FC236}">
                  <a16:creationId xmlns:a16="http://schemas.microsoft.com/office/drawing/2014/main" id="{8F93F2AA-3C7A-EC1B-E534-44B272D3DCEF}"/>
                </a:ext>
              </a:extLst>
            </p:cNvPr>
            <p:cNvSpPr txBox="1"/>
            <p:nvPr/>
          </p:nvSpPr>
          <p:spPr>
            <a:xfrm>
              <a:off x="0" y="-19050"/>
              <a:ext cx="1289101" cy="276993"/>
            </a:xfrm>
            <a:prstGeom prst="rect">
              <a:avLst/>
            </a:prstGeom>
          </p:spPr>
          <p:txBody>
            <a:bodyPr lIns="50800" tIns="50800" rIns="50800" bIns="50800" rtlCol="0" anchor="ctr"/>
            <a:lstStyle/>
            <a:p>
              <a:pPr algn="ctr">
                <a:lnSpc>
                  <a:spcPts val="2160"/>
                </a:lnSpc>
              </a:pPr>
              <a:endParaRPr/>
            </a:p>
          </p:txBody>
        </p:sp>
      </p:grpSp>
      <p:sp>
        <p:nvSpPr>
          <p:cNvPr id="23" name="TextBox 22">
            <a:extLst>
              <a:ext uri="{FF2B5EF4-FFF2-40B4-BE49-F238E27FC236}">
                <a16:creationId xmlns:a16="http://schemas.microsoft.com/office/drawing/2014/main" id="{C51907D2-84CD-EA87-2D34-B8B28D7FE55C}"/>
              </a:ext>
            </a:extLst>
          </p:cNvPr>
          <p:cNvSpPr txBox="1"/>
          <p:nvPr/>
        </p:nvSpPr>
        <p:spPr>
          <a:xfrm>
            <a:off x="349401" y="2331666"/>
            <a:ext cx="5332942" cy="2954655"/>
          </a:xfrm>
          <a:prstGeom prst="rect">
            <a:avLst/>
          </a:prstGeom>
          <a:noFill/>
        </p:spPr>
        <p:txBody>
          <a:bodyPr wrap="square" rtlCol="0">
            <a:spAutoFit/>
          </a:bodyPr>
          <a:lstStyle/>
          <a:p>
            <a:endParaRPr lang="en-US" dirty="0"/>
          </a:p>
          <a:p>
            <a:r>
              <a:rPr lang="en-US" sz="2200" dirty="0">
                <a:latin typeface="Times New Roman" panose="02020603050405020304" pitchFamily="18" charset="0"/>
                <a:cs typeface="Times New Roman" panose="02020603050405020304" pitchFamily="18" charset="0"/>
              </a:rPr>
              <a:t>1)Earth observation and geospatial analysts</a:t>
            </a:r>
          </a:p>
          <a:p>
            <a:r>
              <a:rPr lang="en-US" sz="2200" dirty="0">
                <a:latin typeface="Times New Roman" panose="02020603050405020304" pitchFamily="18" charset="0"/>
                <a:cs typeface="Times New Roman" panose="02020603050405020304" pitchFamily="18" charset="0"/>
              </a:rPr>
              <a:t>2)Space agencies and satellite-data companies</a:t>
            </a:r>
          </a:p>
          <a:p>
            <a:r>
              <a:rPr lang="en-US" sz="2200" dirty="0">
                <a:latin typeface="Times New Roman" panose="02020603050405020304" pitchFamily="18" charset="0"/>
                <a:cs typeface="Times New Roman" panose="02020603050405020304" pitchFamily="18" charset="0"/>
              </a:rPr>
              <a:t>3)Mobility and transportation authorities</a:t>
            </a:r>
          </a:p>
          <a:p>
            <a:r>
              <a:rPr lang="en-US" sz="2200" dirty="0">
                <a:latin typeface="Times New Roman" panose="02020603050405020304" pitchFamily="18" charset="0"/>
                <a:cs typeface="Times New Roman" panose="02020603050405020304" pitchFamily="18" charset="0"/>
              </a:rPr>
              <a:t>4)Infrastructure planning and monitoring authorities</a:t>
            </a:r>
          </a:p>
          <a:p>
            <a:endParaRPr lang="en-US" dirty="0"/>
          </a:p>
          <a:p>
            <a:endParaRPr lang="en-IN" dirty="0"/>
          </a:p>
        </p:txBody>
      </p:sp>
      <p:sp>
        <p:nvSpPr>
          <p:cNvPr id="24" name="TextBox 23">
            <a:extLst>
              <a:ext uri="{FF2B5EF4-FFF2-40B4-BE49-F238E27FC236}">
                <a16:creationId xmlns:a16="http://schemas.microsoft.com/office/drawing/2014/main" id="{F51AECC3-33DC-9209-2E2E-AD021991DF36}"/>
              </a:ext>
            </a:extLst>
          </p:cNvPr>
          <p:cNvSpPr txBox="1"/>
          <p:nvPr/>
        </p:nvSpPr>
        <p:spPr>
          <a:xfrm>
            <a:off x="1135893" y="2018685"/>
            <a:ext cx="3800112" cy="677108"/>
          </a:xfrm>
          <a:prstGeom prst="rect">
            <a:avLst/>
          </a:prstGeom>
          <a:noFill/>
        </p:spPr>
        <p:txBody>
          <a:bodyPr wrap="square" rtlCol="0">
            <a:spAutoFit/>
          </a:bodyPr>
          <a:lstStyle/>
          <a:p>
            <a:r>
              <a:rPr lang="en-US" sz="2000" dirty="0">
                <a:solidFill>
                  <a:schemeClr val="bg1"/>
                </a:solidFill>
                <a:latin typeface="Arial Rounded MT Bold" panose="020F0704030504030204" pitchFamily="34" charset="0"/>
              </a:rPr>
              <a:t>Primary Users/Target group</a:t>
            </a:r>
          </a:p>
          <a:p>
            <a:endParaRPr lang="en-IN" dirty="0"/>
          </a:p>
        </p:txBody>
      </p:sp>
      <p:sp>
        <p:nvSpPr>
          <p:cNvPr id="27" name="TextBox 26">
            <a:extLst>
              <a:ext uri="{FF2B5EF4-FFF2-40B4-BE49-F238E27FC236}">
                <a16:creationId xmlns:a16="http://schemas.microsoft.com/office/drawing/2014/main" id="{418C3E59-D0DA-C034-027A-543D5E03352A}"/>
              </a:ext>
            </a:extLst>
          </p:cNvPr>
          <p:cNvSpPr txBox="1"/>
          <p:nvPr/>
        </p:nvSpPr>
        <p:spPr>
          <a:xfrm>
            <a:off x="6978238" y="1968584"/>
            <a:ext cx="3800112" cy="677108"/>
          </a:xfrm>
          <a:prstGeom prst="rect">
            <a:avLst/>
          </a:prstGeom>
          <a:noFill/>
        </p:spPr>
        <p:txBody>
          <a:bodyPr wrap="square" rtlCol="0">
            <a:spAutoFit/>
          </a:bodyPr>
          <a:lstStyle/>
          <a:p>
            <a:r>
              <a:rPr lang="en-US" sz="2000" dirty="0">
                <a:solidFill>
                  <a:schemeClr val="bg1"/>
                </a:solidFill>
                <a:latin typeface="Arial Rounded MT Bold" panose="020F0704030504030204" pitchFamily="34" charset="0"/>
              </a:rPr>
              <a:t>Secondary stakeholders </a:t>
            </a:r>
          </a:p>
          <a:p>
            <a:endParaRPr lang="en-IN" dirty="0"/>
          </a:p>
        </p:txBody>
      </p:sp>
      <p:sp>
        <p:nvSpPr>
          <p:cNvPr id="31" name="TextBox 30">
            <a:extLst>
              <a:ext uri="{FF2B5EF4-FFF2-40B4-BE49-F238E27FC236}">
                <a16:creationId xmlns:a16="http://schemas.microsoft.com/office/drawing/2014/main" id="{5350A1E5-8CF2-DC5E-965E-D3CA7CEC902C}"/>
              </a:ext>
            </a:extLst>
          </p:cNvPr>
          <p:cNvSpPr txBox="1"/>
          <p:nvPr/>
        </p:nvSpPr>
        <p:spPr>
          <a:xfrm>
            <a:off x="6030448" y="2204721"/>
            <a:ext cx="5941050" cy="2908489"/>
          </a:xfrm>
          <a:prstGeom prst="rect">
            <a:avLst/>
          </a:prstGeom>
          <a:noFill/>
        </p:spPr>
        <p:txBody>
          <a:bodyPr wrap="square" rtlCol="0">
            <a:spAutoFit/>
          </a:bodyPr>
          <a:lstStyle/>
          <a:p>
            <a:endParaRPr lang="en-US" dirty="0"/>
          </a:p>
          <a:p>
            <a:r>
              <a:rPr lang="en-US" sz="2100" dirty="0">
                <a:latin typeface="Times New Roman" panose="02020603050405020304" pitchFamily="18" charset="0"/>
                <a:cs typeface="Times New Roman" panose="02020603050405020304" pitchFamily="18" charset="0"/>
              </a:rPr>
              <a:t>1)Space agencies and satellite-data providers</a:t>
            </a:r>
          </a:p>
          <a:p>
            <a:r>
              <a:rPr lang="en-US" sz="2100" dirty="0">
                <a:latin typeface="Times New Roman" panose="02020603050405020304" pitchFamily="18" charset="0"/>
                <a:cs typeface="Times New Roman" panose="02020603050405020304" pitchFamily="18" charset="0"/>
              </a:rPr>
              <a:t>2)Government planning and development departments</a:t>
            </a:r>
          </a:p>
          <a:p>
            <a:r>
              <a:rPr lang="en-US" sz="2100" dirty="0">
                <a:latin typeface="Times New Roman" panose="02020603050405020304" pitchFamily="18" charset="0"/>
                <a:cs typeface="Times New Roman" panose="02020603050405020304" pitchFamily="18" charset="0"/>
              </a:rPr>
              <a:t>3)Geospatial technology and cloud-computing companies</a:t>
            </a:r>
          </a:p>
          <a:p>
            <a:r>
              <a:rPr lang="en-US" sz="2100" dirty="0">
                <a:latin typeface="Times New Roman" panose="02020603050405020304" pitchFamily="18" charset="0"/>
                <a:cs typeface="Times New Roman" panose="02020603050405020304" pitchFamily="18" charset="0"/>
              </a:rPr>
              <a:t>4)Universities and research institutions</a:t>
            </a:r>
          </a:p>
          <a:p>
            <a:r>
              <a:rPr lang="en-US" sz="2100" dirty="0">
                <a:latin typeface="Times New Roman" panose="02020603050405020304" pitchFamily="18" charset="0"/>
                <a:cs typeface="Times New Roman" panose="02020603050405020304" pitchFamily="18" charset="0"/>
              </a:rPr>
              <a:t>5)Environmental and disaster-management agencies</a:t>
            </a:r>
          </a:p>
          <a:p>
            <a:endParaRPr lang="en-IN" dirty="0"/>
          </a:p>
        </p:txBody>
      </p:sp>
      <p:grpSp>
        <p:nvGrpSpPr>
          <p:cNvPr id="32" name="Group 18">
            <a:extLst>
              <a:ext uri="{FF2B5EF4-FFF2-40B4-BE49-F238E27FC236}">
                <a16:creationId xmlns:a16="http://schemas.microsoft.com/office/drawing/2014/main" id="{FA437506-DBE5-E245-4129-96A58B8C926B}"/>
              </a:ext>
            </a:extLst>
          </p:cNvPr>
          <p:cNvGrpSpPr/>
          <p:nvPr/>
        </p:nvGrpSpPr>
        <p:grpSpPr>
          <a:xfrm>
            <a:off x="220503" y="4967496"/>
            <a:ext cx="11622096" cy="1248478"/>
            <a:chOff x="0" y="-19050"/>
            <a:chExt cx="2721404" cy="2466443"/>
          </a:xfrm>
        </p:grpSpPr>
        <p:sp>
          <p:nvSpPr>
            <p:cNvPr id="33" name="Freeform 19">
              <a:extLst>
                <a:ext uri="{FF2B5EF4-FFF2-40B4-BE49-F238E27FC236}">
                  <a16:creationId xmlns:a16="http://schemas.microsoft.com/office/drawing/2014/main" id="{77C2792B-B30A-753D-0FFE-C9B31631E94D}"/>
                </a:ext>
              </a:extLst>
            </p:cNvPr>
            <p:cNvSpPr/>
            <p:nvPr/>
          </p:nvSpPr>
          <p:spPr>
            <a:xfrm>
              <a:off x="0" y="0"/>
              <a:ext cx="2721404" cy="2447393"/>
            </a:xfrm>
            <a:custGeom>
              <a:avLst/>
              <a:gdLst/>
              <a:ahLst/>
              <a:cxnLst/>
              <a:rect l="l" t="t" r="r" b="b"/>
              <a:pathLst>
                <a:path w="2721404" h="1996262">
                  <a:moveTo>
                    <a:pt x="38212" y="0"/>
                  </a:moveTo>
                  <a:lnTo>
                    <a:pt x="2683192" y="0"/>
                  </a:lnTo>
                  <a:cubicBezTo>
                    <a:pt x="2693326" y="0"/>
                    <a:pt x="2703045" y="4026"/>
                    <a:pt x="2710212" y="11192"/>
                  </a:cubicBezTo>
                  <a:cubicBezTo>
                    <a:pt x="2717378" y="18358"/>
                    <a:pt x="2721404" y="28078"/>
                    <a:pt x="2721404" y="38212"/>
                  </a:cubicBezTo>
                  <a:lnTo>
                    <a:pt x="2721404" y="1958050"/>
                  </a:lnTo>
                  <a:cubicBezTo>
                    <a:pt x="2721404" y="1968185"/>
                    <a:pt x="2717378" y="1977904"/>
                    <a:pt x="2710212" y="1985070"/>
                  </a:cubicBezTo>
                  <a:cubicBezTo>
                    <a:pt x="2703045" y="1992236"/>
                    <a:pt x="2693326" y="1996262"/>
                    <a:pt x="2683192" y="1996262"/>
                  </a:cubicBezTo>
                  <a:lnTo>
                    <a:pt x="38212" y="1996262"/>
                  </a:lnTo>
                  <a:cubicBezTo>
                    <a:pt x="28078" y="1996262"/>
                    <a:pt x="18358" y="1992236"/>
                    <a:pt x="11192" y="1985070"/>
                  </a:cubicBezTo>
                  <a:cubicBezTo>
                    <a:pt x="4026" y="1977904"/>
                    <a:pt x="0" y="1968185"/>
                    <a:pt x="0" y="1958050"/>
                  </a:cubicBezTo>
                  <a:lnTo>
                    <a:pt x="0" y="38212"/>
                  </a:lnTo>
                  <a:cubicBezTo>
                    <a:pt x="0" y="28078"/>
                    <a:pt x="4026" y="18358"/>
                    <a:pt x="11192" y="11192"/>
                  </a:cubicBezTo>
                  <a:cubicBezTo>
                    <a:pt x="18358" y="4026"/>
                    <a:pt x="28078" y="0"/>
                    <a:pt x="38212" y="0"/>
                  </a:cubicBezTo>
                  <a:close/>
                </a:path>
              </a:pathLst>
            </a:custGeom>
            <a:solidFill>
              <a:srgbClr val="FFFFFF"/>
            </a:solidFill>
            <a:ln w="38100" cap="rnd">
              <a:solidFill>
                <a:srgbClr val="000000"/>
              </a:solidFill>
              <a:prstDash val="solid"/>
              <a:round/>
            </a:ln>
          </p:spPr>
          <p:txBody>
            <a:bodyPr/>
            <a:lstStyle/>
            <a:p>
              <a:endParaRPr lang="en-IN" dirty="0"/>
            </a:p>
          </p:txBody>
        </p:sp>
        <p:sp>
          <p:nvSpPr>
            <p:cNvPr id="34" name="TextBox 20">
              <a:extLst>
                <a:ext uri="{FF2B5EF4-FFF2-40B4-BE49-F238E27FC236}">
                  <a16:creationId xmlns:a16="http://schemas.microsoft.com/office/drawing/2014/main" id="{289B1F7D-0DA3-8442-659E-6CE5406A550C}"/>
                </a:ext>
              </a:extLst>
            </p:cNvPr>
            <p:cNvSpPr txBox="1"/>
            <p:nvPr/>
          </p:nvSpPr>
          <p:spPr>
            <a:xfrm>
              <a:off x="0" y="-19050"/>
              <a:ext cx="2721404" cy="2015312"/>
            </a:xfrm>
            <a:prstGeom prst="rect">
              <a:avLst/>
            </a:prstGeom>
          </p:spPr>
          <p:txBody>
            <a:bodyPr lIns="50800" tIns="50800" rIns="50800" bIns="50800" rtlCol="0" anchor="ctr"/>
            <a:lstStyle/>
            <a:p>
              <a:pPr algn="ctr">
                <a:lnSpc>
                  <a:spcPts val="2160"/>
                </a:lnSpc>
              </a:pPr>
              <a:endParaRPr/>
            </a:p>
          </p:txBody>
        </p:sp>
      </p:grpSp>
      <p:sp>
        <p:nvSpPr>
          <p:cNvPr id="35" name="TextBox 34">
            <a:extLst>
              <a:ext uri="{FF2B5EF4-FFF2-40B4-BE49-F238E27FC236}">
                <a16:creationId xmlns:a16="http://schemas.microsoft.com/office/drawing/2014/main" id="{649BB743-154F-969B-6409-5E4E95CCE267}"/>
              </a:ext>
            </a:extLst>
          </p:cNvPr>
          <p:cNvSpPr txBox="1"/>
          <p:nvPr/>
        </p:nvSpPr>
        <p:spPr>
          <a:xfrm>
            <a:off x="548640" y="5015645"/>
            <a:ext cx="4830756"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1)Earth-observation analysts and researches</a:t>
            </a:r>
          </a:p>
          <a:p>
            <a:r>
              <a:rPr lang="en-US" dirty="0">
                <a:latin typeface="Times New Roman" panose="02020603050405020304" pitchFamily="18" charset="0"/>
                <a:cs typeface="Times New Roman" panose="02020603050405020304" pitchFamily="18" charset="0"/>
              </a:rPr>
              <a:t>2)Infrastructure and transportation authorities</a:t>
            </a:r>
          </a:p>
          <a:p>
            <a:r>
              <a:rPr lang="en-US" dirty="0">
                <a:latin typeface="Times New Roman" panose="02020603050405020304" pitchFamily="18" charset="0"/>
                <a:cs typeface="Times New Roman" panose="02020603050405020304" pitchFamily="18" charset="0"/>
              </a:rPr>
              <a:t>3)Urban planners and government departments</a:t>
            </a:r>
          </a:p>
          <a:p>
            <a:r>
              <a:rPr lang="en-US" dirty="0">
                <a:latin typeface="Times New Roman" panose="02020603050405020304" pitchFamily="18" charset="0"/>
                <a:cs typeface="Times New Roman" panose="02020603050405020304" pitchFamily="18" charset="0"/>
              </a:rPr>
              <a:t>4)Space agencies and satellite-data companies</a:t>
            </a:r>
            <a:endParaRPr lang="en-IN" dirty="0">
              <a:latin typeface="Times New Roman" panose="02020603050405020304" pitchFamily="18" charset="0"/>
              <a:cs typeface="Times New Roman" panose="02020603050405020304" pitchFamily="18" charset="0"/>
            </a:endParaRPr>
          </a:p>
        </p:txBody>
      </p:sp>
      <p:cxnSp>
        <p:nvCxnSpPr>
          <p:cNvPr id="37" name="Straight Arrow Connector 36">
            <a:extLst>
              <a:ext uri="{FF2B5EF4-FFF2-40B4-BE49-F238E27FC236}">
                <a16:creationId xmlns:a16="http://schemas.microsoft.com/office/drawing/2014/main" id="{09109930-19EE-C6B6-6627-714000230CB1}"/>
              </a:ext>
            </a:extLst>
          </p:cNvPr>
          <p:cNvCxnSpPr>
            <a:cxnSpLocks/>
          </p:cNvCxnSpPr>
          <p:nvPr/>
        </p:nvCxnSpPr>
        <p:spPr>
          <a:xfrm flipV="1">
            <a:off x="5157499" y="5596556"/>
            <a:ext cx="2250292" cy="19253"/>
          </a:xfrm>
          <a:prstGeom prst="straightConnector1">
            <a:avLst/>
          </a:prstGeom>
          <a:ln>
            <a:solidFill>
              <a:schemeClr val="accent6">
                <a:lumMod val="10000"/>
              </a:schemeClr>
            </a:solidFill>
            <a:tailEnd type="triangle"/>
          </a:ln>
        </p:spPr>
        <p:style>
          <a:lnRef idx="2">
            <a:schemeClr val="dk1"/>
          </a:lnRef>
          <a:fillRef idx="0">
            <a:schemeClr val="dk1"/>
          </a:fillRef>
          <a:effectRef idx="1">
            <a:schemeClr val="dk1"/>
          </a:effectRef>
          <a:fontRef idx="minor">
            <a:schemeClr val="tx1"/>
          </a:fontRef>
        </p:style>
      </p:cxnSp>
      <p:sp>
        <p:nvSpPr>
          <p:cNvPr id="41" name="Flowchart: Terminator 40">
            <a:extLst>
              <a:ext uri="{FF2B5EF4-FFF2-40B4-BE49-F238E27FC236}">
                <a16:creationId xmlns:a16="http://schemas.microsoft.com/office/drawing/2014/main" id="{CEDB5E3A-CCB7-4506-B561-9181240431E2}"/>
              </a:ext>
            </a:extLst>
          </p:cNvPr>
          <p:cNvSpPr/>
          <p:nvPr/>
        </p:nvSpPr>
        <p:spPr>
          <a:xfrm>
            <a:off x="7607030" y="5113211"/>
            <a:ext cx="4036330" cy="922724"/>
          </a:xfrm>
          <a:prstGeom prst="flowChartTerminator">
            <a:avLst/>
          </a:prstGeom>
          <a:gradFill>
            <a:gsLst>
              <a:gs pos="0">
                <a:schemeClr val="accent3"/>
              </a:gs>
              <a:gs pos="100000">
                <a:schemeClr val="accent4">
                  <a:lumMod val="75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TextBox 41">
            <a:extLst>
              <a:ext uri="{FF2B5EF4-FFF2-40B4-BE49-F238E27FC236}">
                <a16:creationId xmlns:a16="http://schemas.microsoft.com/office/drawing/2014/main" id="{90A799E6-BA1D-DE20-3CF8-91C4744373F2}"/>
              </a:ext>
            </a:extLst>
          </p:cNvPr>
          <p:cNvSpPr txBox="1"/>
          <p:nvPr/>
        </p:nvSpPr>
        <p:spPr>
          <a:xfrm>
            <a:off x="7684328" y="5338105"/>
            <a:ext cx="4158271" cy="430887"/>
          </a:xfrm>
          <a:prstGeom prst="rect">
            <a:avLst/>
          </a:prstGeom>
          <a:noFill/>
        </p:spPr>
        <p:txBody>
          <a:bodyPr wrap="square" rtlCol="0">
            <a:spAutoFit/>
          </a:bodyPr>
          <a:lstStyle/>
          <a:p>
            <a:r>
              <a:rPr lang="en-US" sz="2200" dirty="0">
                <a:solidFill>
                  <a:schemeClr val="bg1"/>
                </a:solidFill>
                <a:latin typeface="Arial Rounded MT Bold" panose="020F0704030504030204" pitchFamily="34" charset="0"/>
                <a:cs typeface="Times New Roman" panose="02020603050405020304" pitchFamily="18" charset="0"/>
              </a:rPr>
              <a:t>Who is getting Benefitted??</a:t>
            </a:r>
            <a:endParaRPr lang="en-IN" sz="2200" dirty="0">
              <a:solidFill>
                <a:schemeClr val="bg1"/>
              </a:solidFill>
              <a:latin typeface="Arial Rounded MT Bold" panose="020F07040305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399811"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
        <p:nvSpPr>
          <p:cNvPr id="7" name="Lead Icon Hex"/>
          <p:cNvSpPr/>
          <p:nvPr/>
        </p:nvSpPr>
        <p:spPr>
          <a:xfrm>
            <a:off x="149810" y="1219853"/>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250969" y="1280194"/>
            <a:ext cx="274320" cy="274320"/>
          </a:xfrm>
          <a:prstGeom prst="rect">
            <a:avLst/>
          </a:prstGeom>
        </p:spPr>
      </p:pic>
      <p:sp>
        <p:nvSpPr>
          <p:cNvPr id="9" name="Lead Text"/>
          <p:cNvSpPr txBox="1"/>
          <p:nvPr/>
        </p:nvSpPr>
        <p:spPr>
          <a:xfrm>
            <a:off x="635407" y="1164401"/>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20" name="Rectangle 19">
            <a:extLst>
              <a:ext uri="{FF2B5EF4-FFF2-40B4-BE49-F238E27FC236}">
                <a16:creationId xmlns:a16="http://schemas.microsoft.com/office/drawing/2014/main" id="{76FCA86B-F1BC-B8D7-8537-10F56C358831}"/>
              </a:ext>
            </a:extLst>
          </p:cNvPr>
          <p:cNvSpPr/>
          <p:nvPr/>
        </p:nvSpPr>
        <p:spPr>
          <a:xfrm>
            <a:off x="223931" y="1734622"/>
            <a:ext cx="6466125" cy="2184104"/>
          </a:xfrm>
          <a:prstGeom prst="rect">
            <a:avLst/>
          </a:prstGeom>
          <a:gradFill>
            <a:gsLst>
              <a:gs pos="0">
                <a:schemeClr val="accent6">
                  <a:lumMod val="50000"/>
                </a:schemeClr>
              </a:gs>
              <a:gs pos="100000">
                <a:schemeClr val="accent4">
                  <a:lumMod val="75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5DA23ADD-E173-820B-D1E7-F0F368BD8F22}"/>
              </a:ext>
            </a:extLst>
          </p:cNvPr>
          <p:cNvSpPr/>
          <p:nvPr/>
        </p:nvSpPr>
        <p:spPr>
          <a:xfrm>
            <a:off x="6848668" y="1676254"/>
            <a:ext cx="5225143" cy="4578631"/>
          </a:xfrm>
          <a:prstGeom prst="rect">
            <a:avLst/>
          </a:prstGeom>
          <a:gradFill>
            <a:gsLst>
              <a:gs pos="0">
                <a:schemeClr val="accent6">
                  <a:lumMod val="50000"/>
                </a:schemeClr>
              </a:gs>
              <a:gs pos="100000">
                <a:schemeClr val="accent4">
                  <a:lumMod val="75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04A25E98-0856-B2C4-0C77-A7EEDB1A5903}"/>
              </a:ext>
            </a:extLst>
          </p:cNvPr>
          <p:cNvSpPr/>
          <p:nvPr/>
        </p:nvSpPr>
        <p:spPr>
          <a:xfrm>
            <a:off x="223930" y="4051327"/>
            <a:ext cx="6466126" cy="2184104"/>
          </a:xfrm>
          <a:prstGeom prst="rect">
            <a:avLst/>
          </a:prstGeom>
          <a:gradFill>
            <a:gsLst>
              <a:gs pos="0">
                <a:schemeClr val="accent6">
                  <a:lumMod val="50000"/>
                </a:schemeClr>
              </a:gs>
              <a:gs pos="100000">
                <a:schemeClr val="accent4">
                  <a:lumMod val="75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3CF6D671-EA19-3DE1-E233-AECDF0032131}"/>
              </a:ext>
            </a:extLst>
          </p:cNvPr>
          <p:cNvSpPr txBox="1"/>
          <p:nvPr/>
        </p:nvSpPr>
        <p:spPr>
          <a:xfrm>
            <a:off x="279366" y="1690339"/>
            <a:ext cx="6410689" cy="2179058"/>
          </a:xfrm>
          <a:prstGeom prst="rect">
            <a:avLst/>
          </a:prstGeom>
          <a:noFill/>
        </p:spPr>
        <p:txBody>
          <a:bodyPr wrap="square" rtlCol="0">
            <a:spAutoFit/>
          </a:bodyPr>
          <a:lstStyle/>
          <a:p>
            <a:r>
              <a:rPr lang="en-US" b="1" u="sng" dirty="0">
                <a:solidFill>
                  <a:schemeClr val="accent6">
                    <a:lumMod val="10000"/>
                  </a:schemeClr>
                </a:solidFill>
                <a:latin typeface="Times New Roman" panose="02020603050405020304" pitchFamily="18" charset="0"/>
                <a:cs typeface="Times New Roman" panose="02020603050405020304" pitchFamily="18" charset="0"/>
              </a:rPr>
              <a:t> </a:t>
            </a:r>
            <a:r>
              <a:rPr lang="en-US" sz="1470" b="1" u="sng" dirty="0">
                <a:solidFill>
                  <a:schemeClr val="accent6">
                    <a:lumMod val="10000"/>
                  </a:schemeClr>
                </a:solidFill>
                <a:latin typeface="Times New Roman" panose="02020603050405020304" pitchFamily="18" charset="0"/>
                <a:cs typeface="Times New Roman" panose="02020603050405020304" pitchFamily="18" charset="0"/>
              </a:rPr>
              <a:t>Existing scenario and background :</a:t>
            </a:r>
            <a:br>
              <a:rPr lang="en-US" sz="1470" dirty="0">
                <a:solidFill>
                  <a:schemeClr val="bg1"/>
                </a:solidFill>
                <a:latin typeface="Times New Roman" panose="02020603050405020304" pitchFamily="18" charset="0"/>
                <a:cs typeface="Times New Roman" panose="02020603050405020304" pitchFamily="18" charset="0"/>
              </a:rPr>
            </a:br>
            <a:r>
              <a:rPr lang="en-US" sz="1470" dirty="0">
                <a:solidFill>
                  <a:schemeClr val="bg1"/>
                </a:solidFill>
                <a:latin typeface="Times New Roman" panose="02020603050405020304" pitchFamily="18" charset="0"/>
                <a:cs typeface="Times New Roman" panose="02020603050405020304" pitchFamily="18" charset="0"/>
              </a:rPr>
              <a:t>* Earth-observation satellites monitor the Earth's surface to support disaster management, agriculture, environmental monitoring, and infrastructure assessment.</a:t>
            </a:r>
          </a:p>
          <a:p>
            <a:r>
              <a:rPr lang="en-US" sz="1470" dirty="0">
                <a:solidFill>
                  <a:schemeClr val="bg1"/>
                </a:solidFill>
                <a:latin typeface="Times New Roman" panose="02020603050405020304" pitchFamily="18" charset="0"/>
                <a:cs typeface="Times New Roman" panose="02020603050405020304" pitchFamily="18" charset="0"/>
              </a:rPr>
              <a:t>*However, satellites observe specific locations at particular intervals rather than continuously. Temporary events may occur between observations and leave incomplete records of how a situation developed.</a:t>
            </a:r>
          </a:p>
          <a:p>
            <a:r>
              <a:rPr lang="en-US" sz="1470" dirty="0">
                <a:solidFill>
                  <a:schemeClr val="bg1"/>
                </a:solidFill>
                <a:latin typeface="Times New Roman" panose="02020603050405020304" pitchFamily="18" charset="0"/>
                <a:cs typeface="Times New Roman" panose="02020603050405020304" pitchFamily="18" charset="0"/>
              </a:rPr>
              <a:t>* Cloud cover, darkness, revisit intervals, sensor limitations, and restricted observation opportunities can further reduce the availability of useful observations.</a:t>
            </a:r>
            <a:endParaRPr lang="en-IN" sz="1470" dirty="0">
              <a:solidFill>
                <a:schemeClr val="bg1"/>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2B5A0EC6-BAB0-02E6-CAA4-AB05AA23B104}"/>
              </a:ext>
            </a:extLst>
          </p:cNvPr>
          <p:cNvSpPr txBox="1"/>
          <p:nvPr/>
        </p:nvSpPr>
        <p:spPr>
          <a:xfrm>
            <a:off x="263875" y="4037594"/>
            <a:ext cx="6386235" cy="2128275"/>
          </a:xfrm>
          <a:prstGeom prst="rect">
            <a:avLst/>
          </a:prstGeom>
          <a:noFill/>
        </p:spPr>
        <p:txBody>
          <a:bodyPr wrap="square" rtlCol="0">
            <a:spAutoFit/>
          </a:bodyPr>
          <a:lstStyle/>
          <a:p>
            <a:r>
              <a:rPr lang="en-US" sz="1470" b="1" u="sng" dirty="0">
                <a:solidFill>
                  <a:schemeClr val="accent6">
                    <a:lumMod val="10000"/>
                  </a:schemeClr>
                </a:solidFill>
                <a:latin typeface="Times New Roman" panose="02020603050405020304" pitchFamily="18" charset="0"/>
                <a:cs typeface="Times New Roman" panose="02020603050405020304" pitchFamily="18" charset="0"/>
              </a:rPr>
              <a:t>Relevant data or facts :</a:t>
            </a:r>
          </a:p>
          <a:p>
            <a:r>
              <a:rPr lang="en-US" sz="1470" dirty="0">
                <a:solidFill>
                  <a:schemeClr val="bg1"/>
                </a:solidFill>
                <a:latin typeface="Times New Roman" panose="02020603050405020304" pitchFamily="18" charset="0"/>
                <a:cs typeface="Times New Roman" panose="02020603050405020304" pitchFamily="18" charset="0"/>
              </a:rPr>
              <a:t>*Satellite observations are snapshots taken at particular times, not continuous recordings.</a:t>
            </a:r>
          </a:p>
          <a:p>
            <a:r>
              <a:rPr lang="en-US" sz="1470" dirty="0">
                <a:solidFill>
                  <a:schemeClr val="bg1"/>
                </a:solidFill>
                <a:latin typeface="Times New Roman" panose="02020603050405020304" pitchFamily="18" charset="0"/>
                <a:cs typeface="Times New Roman" panose="02020603050405020304" pitchFamily="18" charset="0"/>
              </a:rPr>
              <a:t>* Optical, radar (SAR), and thermal satellites provide different types of information, with different strengths and limitations.</a:t>
            </a:r>
          </a:p>
          <a:p>
            <a:r>
              <a:rPr lang="en-US" sz="1470" dirty="0">
                <a:solidFill>
                  <a:schemeClr val="bg1"/>
                </a:solidFill>
                <a:latin typeface="Times New Roman" panose="02020603050405020304" pitchFamily="18" charset="0"/>
                <a:cs typeface="Times New Roman" panose="02020603050405020304" pitchFamily="18" charset="0"/>
              </a:rPr>
              <a:t>*Comparing observations from before and after a gap can reveal changes, but may not establish exactly when or how those changes occurred.</a:t>
            </a:r>
          </a:p>
          <a:p>
            <a:r>
              <a:rPr lang="en-US" sz="1470" dirty="0">
                <a:solidFill>
                  <a:schemeClr val="bg1"/>
                </a:solidFill>
                <a:latin typeface="Times New Roman" panose="02020603050405020304" pitchFamily="18" charset="0"/>
                <a:cs typeface="Times New Roman" panose="02020603050405020304" pitchFamily="18" charset="0"/>
              </a:rPr>
              <a:t>* Any inferred event must account for uncertainty; the available data may not be sufficient to determine what actually happened.</a:t>
            </a:r>
            <a:endParaRPr lang="en-IN" sz="1470" dirty="0">
              <a:solidFill>
                <a:schemeClr val="bg1"/>
              </a:solidFill>
              <a:latin typeface="Times New Roman" panose="02020603050405020304" pitchFamily="18" charset="0"/>
              <a:cs typeface="Times New Roman" panose="02020603050405020304" pitchFamily="18" charset="0"/>
            </a:endParaRPr>
          </a:p>
        </p:txBody>
      </p:sp>
      <p:pic>
        <p:nvPicPr>
          <p:cNvPr id="30" name="Picture 29">
            <a:extLst>
              <a:ext uri="{FF2B5EF4-FFF2-40B4-BE49-F238E27FC236}">
                <a16:creationId xmlns:a16="http://schemas.microsoft.com/office/drawing/2014/main" id="{EE667976-9568-3171-4996-59B117E8F997}"/>
              </a:ext>
            </a:extLst>
          </p:cNvPr>
          <p:cNvPicPr>
            <a:picLocks noChangeAspect="1"/>
          </p:cNvPicPr>
          <p:nvPr/>
        </p:nvPicPr>
        <p:blipFill>
          <a:blip r:embed="rId5"/>
          <a:stretch>
            <a:fillRect/>
          </a:stretch>
        </p:blipFill>
        <p:spPr>
          <a:xfrm>
            <a:off x="7021271" y="1734622"/>
            <a:ext cx="4893928" cy="44724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292806"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
        <p:nvSpPr>
          <p:cNvPr id="7" name="Lead Icon Hex"/>
          <p:cNvSpPr/>
          <p:nvPr/>
        </p:nvSpPr>
        <p:spPr>
          <a:xfrm>
            <a:off x="548640" y="1249028"/>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319108"/>
            <a:ext cx="274320" cy="274320"/>
          </a:xfrm>
          <a:prstGeom prst="rect">
            <a:avLst/>
          </a:prstGeom>
        </p:spPr>
      </p:pic>
      <p:sp>
        <p:nvSpPr>
          <p:cNvPr id="9" name="Lead Text"/>
          <p:cNvSpPr txBox="1"/>
          <p:nvPr/>
        </p:nvSpPr>
        <p:spPr>
          <a:xfrm>
            <a:off x="1112064" y="1174126"/>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1" name="Rectangle: Diagonal Corners Rounded 10">
            <a:extLst>
              <a:ext uri="{FF2B5EF4-FFF2-40B4-BE49-F238E27FC236}">
                <a16:creationId xmlns:a16="http://schemas.microsoft.com/office/drawing/2014/main" id="{59BDBCCD-9CEF-A80B-333E-04C127154099}"/>
              </a:ext>
            </a:extLst>
          </p:cNvPr>
          <p:cNvSpPr/>
          <p:nvPr/>
        </p:nvSpPr>
        <p:spPr>
          <a:xfrm>
            <a:off x="74642" y="1754155"/>
            <a:ext cx="6578088" cy="4555205"/>
          </a:xfrm>
          <a:prstGeom prst="round2Diag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46BF7CA8-A76A-F2F2-E88E-C6E6DF33A66A}"/>
              </a:ext>
            </a:extLst>
          </p:cNvPr>
          <p:cNvSpPr txBox="1"/>
          <p:nvPr/>
        </p:nvSpPr>
        <p:spPr>
          <a:xfrm>
            <a:off x="230154" y="1840677"/>
            <a:ext cx="6422575" cy="4539704"/>
          </a:xfrm>
          <a:prstGeom prst="rect">
            <a:avLst/>
          </a:prstGeom>
          <a:noFill/>
        </p:spPr>
        <p:txBody>
          <a:bodyPr wrap="square" rtlCol="0">
            <a:spAutoFit/>
          </a:bodyPr>
          <a:lstStyle/>
          <a:p>
            <a:r>
              <a:rPr lang="en-US" sz="1700" b="1" u="sng" dirty="0">
                <a:solidFill>
                  <a:schemeClr val="bg1"/>
                </a:solidFill>
              </a:rPr>
              <a:t>Distinguishing Confirmed Information from Inferred Information</a:t>
            </a:r>
          </a:p>
          <a:p>
            <a:pPr marL="285750" indent="-285750">
              <a:buFont typeface="Wingdings" panose="05000000000000000000" pitchFamily="2" charset="2"/>
              <a:buChar char="Ø"/>
            </a:pPr>
            <a:r>
              <a:rPr lang="en-US" sz="1700" b="1" u="sng" dirty="0">
                <a:solidFill>
                  <a:schemeClr val="bg1"/>
                </a:solidFill>
              </a:rPr>
              <a:t>Main difficulty : </a:t>
            </a:r>
            <a:r>
              <a:rPr lang="en-US" sz="1700" dirty="0">
                <a:solidFill>
                  <a:schemeClr val="bg1"/>
                </a:solidFill>
              </a:rPr>
              <a:t>The system must distinguish what satellites directly observed from what its model estimated . A plausible prediction is not equivalent to a verified observation.</a:t>
            </a:r>
          </a:p>
          <a:p>
            <a:pPr marL="285750" indent="-285750">
              <a:buFont typeface="Wingdings" panose="05000000000000000000" pitchFamily="2" charset="2"/>
              <a:buChar char="Ø"/>
            </a:pPr>
            <a:r>
              <a:rPr lang="en-US" sz="1700" b="1" u="sng" dirty="0">
                <a:solidFill>
                  <a:schemeClr val="bg1"/>
                </a:solidFill>
              </a:rPr>
              <a:t>Root causes: </a:t>
            </a:r>
            <a:r>
              <a:rPr lang="en-US" sz="1700" dirty="0">
                <a:solidFill>
                  <a:schemeClr val="bg1"/>
                </a:solidFill>
              </a:rPr>
              <a:t>Missing observations . Uncertainty in estimation methods . Incomplete evidence supporting a particular reconstruction.</a:t>
            </a:r>
          </a:p>
          <a:p>
            <a:pPr marL="285750" indent="-285750">
              <a:buFont typeface="Wingdings" panose="05000000000000000000" pitchFamily="2" charset="2"/>
              <a:buChar char="Ø"/>
            </a:pPr>
            <a:r>
              <a:rPr lang="en-US" sz="1700" b="1" u="sng" dirty="0">
                <a:solidFill>
                  <a:schemeClr val="bg1"/>
                </a:solidFill>
              </a:rPr>
              <a:t>Consequences if unresolved : </a:t>
            </a:r>
            <a:r>
              <a:rPr lang="en-US" sz="1700" dirty="0">
                <a:solidFill>
                  <a:schemeClr val="bg1"/>
                </a:solidFill>
              </a:rPr>
              <a:t>Users may mistake predictions for actual observations . Confidence in the system may decrease . Decisions based on uncertain estimates may be inappropriate . Example: Satellite imagery confirms that a forest was intact on Monday and shows damage on Friday. The system estimates that the damage may have occurred on Wednesday, but Wednesday's date cannot be confirmed without additional evidence.</a:t>
            </a:r>
          </a:p>
          <a:p>
            <a:pPr marL="285750" indent="-285750">
              <a:buFont typeface="Wingdings" panose="05000000000000000000" pitchFamily="2" charset="2"/>
              <a:buChar char="Ø"/>
            </a:pPr>
            <a:r>
              <a:rPr lang="en-US" sz="1700" b="1" u="sng" dirty="0">
                <a:solidFill>
                  <a:schemeClr val="bg1"/>
                </a:solidFill>
              </a:rPr>
              <a:t>Why this matters: </a:t>
            </a:r>
            <a:r>
              <a:rPr lang="en-US" sz="1700" dirty="0">
                <a:solidFill>
                  <a:schemeClr val="bg1"/>
                </a:solidFill>
              </a:rPr>
              <a:t>This is one of the most important challenges in your project because your system explicitly needs to show what is confirmed and what is inferred.</a:t>
            </a:r>
            <a:endParaRPr lang="en-IN" sz="1700" dirty="0">
              <a:solidFill>
                <a:schemeClr val="bg1"/>
              </a:solidFill>
            </a:endParaRPr>
          </a:p>
        </p:txBody>
      </p:sp>
      <p:sp>
        <p:nvSpPr>
          <p:cNvPr id="14" name="Rectangle: Diagonal Corners Rounded 13">
            <a:extLst>
              <a:ext uri="{FF2B5EF4-FFF2-40B4-BE49-F238E27FC236}">
                <a16:creationId xmlns:a16="http://schemas.microsoft.com/office/drawing/2014/main" id="{3731367D-8964-924D-AD7B-FFA3017921E8}"/>
              </a:ext>
            </a:extLst>
          </p:cNvPr>
          <p:cNvSpPr/>
          <p:nvPr/>
        </p:nvSpPr>
        <p:spPr>
          <a:xfrm>
            <a:off x="6758953" y="1582228"/>
            <a:ext cx="5352183" cy="4659952"/>
          </a:xfrm>
          <a:prstGeom prst="round2Diag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6ED8783-1904-5008-C542-A8D0F8C832D6}"/>
              </a:ext>
            </a:extLst>
          </p:cNvPr>
          <p:cNvSpPr txBox="1"/>
          <p:nvPr/>
        </p:nvSpPr>
        <p:spPr>
          <a:xfrm>
            <a:off x="6892220" y="1708172"/>
            <a:ext cx="5228250" cy="4247317"/>
          </a:xfrm>
          <a:prstGeom prst="rect">
            <a:avLst/>
          </a:prstGeom>
          <a:noFill/>
        </p:spPr>
        <p:txBody>
          <a:bodyPr wrap="square" rtlCol="0">
            <a:spAutoFit/>
          </a:bodyPr>
          <a:lstStyle/>
          <a:p>
            <a:r>
              <a:rPr lang="en-US" sz="1500" b="1" u="sng" dirty="0">
                <a:solidFill>
                  <a:schemeClr val="bg1"/>
                </a:solidFill>
                <a:latin typeface="Bahnschrift" panose="020B0502040204020203" pitchFamily="34" charset="0"/>
              </a:rPr>
              <a:t>Estimating What Happened During Missing Periods</a:t>
            </a:r>
          </a:p>
          <a:p>
            <a:r>
              <a:rPr lang="en-US" sz="1500" b="1" u="sng" dirty="0">
                <a:solidFill>
                  <a:schemeClr val="bg1"/>
                </a:solidFill>
              </a:rPr>
              <a:t>Main difficulty : </a:t>
            </a:r>
            <a:r>
              <a:rPr lang="en-US" sz="1500" dirty="0">
                <a:solidFill>
                  <a:schemeClr val="bg1"/>
                </a:solidFill>
              </a:rPr>
              <a:t>The system must estimate intermediate changes without having direct observations of those changes . A simple comparison of images taken before and after an event cannot reveal every intermediate stage.</a:t>
            </a:r>
          </a:p>
          <a:p>
            <a:r>
              <a:rPr lang="en-US" sz="1500" b="1" u="sng" dirty="0">
                <a:solidFill>
                  <a:schemeClr val="bg1"/>
                </a:solidFill>
              </a:rPr>
              <a:t>Root causes : </a:t>
            </a:r>
            <a:r>
              <a:rPr lang="en-US" sz="1500" dirty="0">
                <a:solidFill>
                  <a:schemeClr val="bg1"/>
                </a:solidFill>
              </a:rPr>
              <a:t>Missing temporal information . Incomplete observations of the event . Multiple possible sequences of changes between the same two images . </a:t>
            </a:r>
          </a:p>
          <a:p>
            <a:r>
              <a:rPr lang="en-US" sz="1500" b="1" u="sng" dirty="0">
                <a:solidFill>
                  <a:schemeClr val="bg1"/>
                </a:solidFill>
              </a:rPr>
              <a:t>Consequences if unresolved : </a:t>
            </a:r>
            <a:r>
              <a:rPr lang="en-US" sz="1500" dirty="0">
                <a:solidFill>
                  <a:schemeClr val="bg1"/>
                </a:solidFill>
              </a:rPr>
              <a:t>The system may provide only a before-and-after comparison . Intermediate stages of an event remain unknown . The resulting timeline may be incomplete or inaccurate.</a:t>
            </a:r>
          </a:p>
          <a:p>
            <a:r>
              <a:rPr lang="en-US" sz="1500" b="1" u="sng" dirty="0">
                <a:solidFill>
                  <a:schemeClr val="bg1"/>
                </a:solidFill>
              </a:rPr>
              <a:t>What needs to be solved ? : </a:t>
            </a:r>
            <a:r>
              <a:rPr lang="en-US" sz="1500" dirty="0">
                <a:solidFill>
                  <a:schemeClr val="bg1"/>
                </a:solidFill>
              </a:rPr>
              <a:t>Satellites cannot observe every place continuously because of revisit time, clouds, darkness, and sensor limitations . Important changes can happen during these observation gaps . The system should use available satellite and geospatial data to estimate what happened, when it happened, and how it changed during the gap . </a:t>
            </a:r>
            <a:endParaRPr lang="en-IN" sz="15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565181"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
        <p:nvSpPr>
          <p:cNvPr id="7" name="Lead Icon Hex"/>
          <p:cNvSpPr/>
          <p:nvPr/>
        </p:nvSpPr>
        <p:spPr>
          <a:xfrm>
            <a:off x="548640" y="1239303"/>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309378"/>
            <a:ext cx="274320" cy="274320"/>
          </a:xfrm>
          <a:prstGeom prst="rect">
            <a:avLst/>
          </a:prstGeom>
        </p:spPr>
      </p:pic>
      <p:sp>
        <p:nvSpPr>
          <p:cNvPr id="9" name="Lead Text"/>
          <p:cNvSpPr txBox="1"/>
          <p:nvPr/>
        </p:nvSpPr>
        <p:spPr>
          <a:xfrm>
            <a:off x="1092608" y="114300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graphicFrame>
        <p:nvGraphicFramePr>
          <p:cNvPr id="35" name="Table 34">
            <a:extLst>
              <a:ext uri="{FF2B5EF4-FFF2-40B4-BE49-F238E27FC236}">
                <a16:creationId xmlns:a16="http://schemas.microsoft.com/office/drawing/2014/main" id="{7D3F22DC-C8BD-54CE-E8ED-6686801ECF5A}"/>
              </a:ext>
            </a:extLst>
          </p:cNvPr>
          <p:cNvGraphicFramePr>
            <a:graphicFrameLocks noGrp="1"/>
          </p:cNvGraphicFramePr>
          <p:nvPr>
            <p:extLst>
              <p:ext uri="{D42A27DB-BD31-4B8C-83A1-F6EECF244321}">
                <p14:modId xmlns:p14="http://schemas.microsoft.com/office/powerpoint/2010/main" val="2790966450"/>
              </p:ext>
            </p:extLst>
          </p:nvPr>
        </p:nvGraphicFramePr>
        <p:xfrm>
          <a:off x="145559" y="1714643"/>
          <a:ext cx="5023601" cy="4556032"/>
        </p:xfrm>
        <a:graphic>
          <a:graphicData uri="http://schemas.openxmlformats.org/drawingml/2006/table">
            <a:tbl>
              <a:tblPr firstRow="1" firstCol="1" bandRow="1">
                <a:tableStyleId>{5C22544A-7EE6-4342-B048-85BDC9FD1C3A}</a:tableStyleId>
              </a:tblPr>
              <a:tblGrid>
                <a:gridCol w="1073419">
                  <a:extLst>
                    <a:ext uri="{9D8B030D-6E8A-4147-A177-3AD203B41FA5}">
                      <a16:colId xmlns:a16="http://schemas.microsoft.com/office/drawing/2014/main" val="2539551413"/>
                    </a:ext>
                  </a:extLst>
                </a:gridCol>
                <a:gridCol w="1449116">
                  <a:extLst>
                    <a:ext uri="{9D8B030D-6E8A-4147-A177-3AD203B41FA5}">
                      <a16:colId xmlns:a16="http://schemas.microsoft.com/office/drawing/2014/main" val="430034646"/>
                    </a:ext>
                  </a:extLst>
                </a:gridCol>
                <a:gridCol w="2501066">
                  <a:extLst>
                    <a:ext uri="{9D8B030D-6E8A-4147-A177-3AD203B41FA5}">
                      <a16:colId xmlns:a16="http://schemas.microsoft.com/office/drawing/2014/main" val="2525375711"/>
                    </a:ext>
                  </a:extLst>
                </a:gridCol>
              </a:tblGrid>
              <a:tr h="524124">
                <a:tc>
                  <a:txBody>
                    <a:bodyPr/>
                    <a:lstStyle/>
                    <a:p>
                      <a:pPr>
                        <a:buNone/>
                      </a:pPr>
                      <a:r>
                        <a:rPr lang="en-IN" sz="1400">
                          <a:effectLst/>
                        </a:rPr>
                        <a:t>Approach</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a:effectLst/>
                        </a:rPr>
                        <a:t>Examples</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a:effectLst/>
                        </a:rPr>
                        <a:t>Limitation</a:t>
                      </a:r>
                      <a:endParaRPr lang="en-IN" sz="1800">
                        <a:effectLst/>
                        <a:latin typeface="Calibri" panose="020F0502020204030204" pitchFamily="34" charset="0"/>
                        <a:ea typeface="Calibri" panose="020F0502020204030204" pitchFamily="34" charset="0"/>
                      </a:endParaRPr>
                    </a:p>
                  </a:txBody>
                  <a:tcPr marL="69850" marR="69850" marT="44450" marB="44450"/>
                </a:tc>
                <a:extLst>
                  <a:ext uri="{0D108BD9-81ED-4DB2-BD59-A6C34878D82A}">
                    <a16:rowId xmlns:a16="http://schemas.microsoft.com/office/drawing/2014/main" val="151801526"/>
                  </a:ext>
                </a:extLst>
              </a:tr>
              <a:tr h="855148">
                <a:tc>
                  <a:txBody>
                    <a:bodyPr/>
                    <a:lstStyle/>
                    <a:p>
                      <a:pPr>
                        <a:buNone/>
                      </a:pPr>
                      <a:r>
                        <a:rPr lang="en-IN" sz="1400">
                          <a:effectLst/>
                        </a:rPr>
                        <a:t>Spatiotemporal fusion</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a:effectLst/>
                        </a:rPr>
                        <a:t>STARFM, ESTARFM (MODIS + Landsat)</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dirty="0">
                          <a:effectLst/>
                        </a:rPr>
                        <a:t>Assumes smooth change, so abrupt events break it. Still needs real images.</a:t>
                      </a:r>
                      <a:endParaRPr lang="en-IN" sz="1800" dirty="0">
                        <a:effectLst/>
                        <a:latin typeface="Calibri" panose="020F0502020204030204" pitchFamily="34" charset="0"/>
                        <a:ea typeface="Calibri" panose="020F0502020204030204" pitchFamily="34" charset="0"/>
                      </a:endParaRPr>
                    </a:p>
                  </a:txBody>
                  <a:tcPr marL="69850" marR="69850" marT="44450" marB="44450"/>
                </a:tc>
                <a:extLst>
                  <a:ext uri="{0D108BD9-81ED-4DB2-BD59-A6C34878D82A}">
                    <a16:rowId xmlns:a16="http://schemas.microsoft.com/office/drawing/2014/main" val="2377319499"/>
                  </a:ext>
                </a:extLst>
              </a:tr>
              <a:tr h="855148">
                <a:tc>
                  <a:txBody>
                    <a:bodyPr/>
                    <a:lstStyle/>
                    <a:p>
                      <a:pPr>
                        <a:buNone/>
                      </a:pPr>
                      <a:r>
                        <a:rPr lang="en-IN" sz="1400">
                          <a:effectLst/>
                        </a:rPr>
                        <a:t>Cloud removal / SAR-optical fusion</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dirty="0">
                          <a:effectLst/>
                        </a:rPr>
                        <a:t>SEN12MS-CR, GAN and diffusion models</a:t>
                      </a:r>
                      <a:endParaRPr lang="en-IN" sz="1800" dirty="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dirty="0">
                          <a:effectLst/>
                        </a:rPr>
                        <a:t>Can generate plausible but unverified pixels. Speckle, terrain distortion, registration errors.</a:t>
                      </a:r>
                      <a:endParaRPr lang="en-IN" sz="1800" dirty="0">
                        <a:effectLst/>
                        <a:latin typeface="Calibri" panose="020F0502020204030204" pitchFamily="34" charset="0"/>
                        <a:ea typeface="Calibri" panose="020F0502020204030204" pitchFamily="34" charset="0"/>
                      </a:endParaRPr>
                    </a:p>
                  </a:txBody>
                  <a:tcPr marL="69850" marR="69850" marT="44450" marB="44450"/>
                </a:tc>
                <a:extLst>
                  <a:ext uri="{0D108BD9-81ED-4DB2-BD59-A6C34878D82A}">
                    <a16:rowId xmlns:a16="http://schemas.microsoft.com/office/drawing/2014/main" val="3643553785"/>
                  </a:ext>
                </a:extLst>
              </a:tr>
              <a:tr h="855148">
                <a:tc>
                  <a:txBody>
                    <a:bodyPr/>
                    <a:lstStyle/>
                    <a:p>
                      <a:pPr>
                        <a:buNone/>
                      </a:pPr>
                      <a:r>
                        <a:rPr lang="en-IN" sz="1400">
                          <a:effectLst/>
                        </a:rPr>
                        <a:t>Change-point alerts</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a:effectLst/>
                        </a:rPr>
                        <a:t>RADD, GLAD, BFAST</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dirty="0">
                          <a:effectLst/>
                        </a:rPr>
                        <a:t>Detection lag of about 17-22 days. Earlier alerts mean more false alarms.</a:t>
                      </a:r>
                      <a:endParaRPr lang="en-IN" sz="1800" dirty="0">
                        <a:effectLst/>
                        <a:latin typeface="Calibri" panose="020F0502020204030204" pitchFamily="34" charset="0"/>
                        <a:ea typeface="Calibri" panose="020F0502020204030204" pitchFamily="34" charset="0"/>
                      </a:endParaRPr>
                    </a:p>
                  </a:txBody>
                  <a:tcPr marL="69850" marR="69850" marT="44450" marB="44450"/>
                </a:tc>
                <a:extLst>
                  <a:ext uri="{0D108BD9-81ED-4DB2-BD59-A6C34878D82A}">
                    <a16:rowId xmlns:a16="http://schemas.microsoft.com/office/drawing/2014/main" val="774393579"/>
                  </a:ext>
                </a:extLst>
              </a:tr>
              <a:tr h="855148">
                <a:tc>
                  <a:txBody>
                    <a:bodyPr/>
                    <a:lstStyle/>
                    <a:p>
                      <a:pPr>
                        <a:buNone/>
                      </a:pPr>
                      <a:r>
                        <a:rPr lang="en-IN" sz="1400">
                          <a:effectLst/>
                        </a:rPr>
                        <a:t>Event-specific tools</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a:effectLst/>
                        </a:rPr>
                        <a:t>GOES fire tracking (GOFER), InSAR landslide timing</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dirty="0">
                          <a:effectLst/>
                        </a:rPr>
                        <a:t>Each covers one hazard. InSAR fails when the ground moves fast.</a:t>
                      </a:r>
                      <a:endParaRPr lang="en-IN" sz="1800" dirty="0">
                        <a:effectLst/>
                        <a:latin typeface="Calibri" panose="020F0502020204030204" pitchFamily="34" charset="0"/>
                        <a:ea typeface="Calibri" panose="020F0502020204030204" pitchFamily="34" charset="0"/>
                      </a:endParaRPr>
                    </a:p>
                  </a:txBody>
                  <a:tcPr marL="69850" marR="69850" marT="44450" marB="44450"/>
                </a:tc>
                <a:extLst>
                  <a:ext uri="{0D108BD9-81ED-4DB2-BD59-A6C34878D82A}">
                    <a16:rowId xmlns:a16="http://schemas.microsoft.com/office/drawing/2014/main" val="193993411"/>
                  </a:ext>
                </a:extLst>
              </a:tr>
              <a:tr h="524124">
                <a:tc>
                  <a:txBody>
                    <a:bodyPr/>
                    <a:lstStyle/>
                    <a:p>
                      <a:pPr>
                        <a:buNone/>
                      </a:pPr>
                      <a:r>
                        <a:rPr lang="en-IN" sz="1400">
                          <a:effectLst/>
                        </a:rPr>
                        <a:t>Raw revisit data</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a:effectLst/>
                        </a:rPr>
                        <a:t>Sentinel-1 (6-12 day revisit)</a:t>
                      </a:r>
                      <a:endParaRPr lang="en-IN" sz="1800">
                        <a:effectLst/>
                        <a:latin typeface="Calibri" panose="020F0502020204030204" pitchFamily="34" charset="0"/>
                        <a:ea typeface="Calibri" panose="020F0502020204030204" pitchFamily="34" charset="0"/>
                      </a:endParaRPr>
                    </a:p>
                  </a:txBody>
                  <a:tcPr marL="69850" marR="69850" marT="44450" marB="44450"/>
                </a:tc>
                <a:tc>
                  <a:txBody>
                    <a:bodyPr/>
                    <a:lstStyle/>
                    <a:p>
                      <a:pPr>
                        <a:buNone/>
                      </a:pPr>
                      <a:r>
                        <a:rPr lang="en-IN" sz="1400" dirty="0">
                          <a:effectLst/>
                        </a:rPr>
                        <a:t>Flash floods and peak extent fall between passes.</a:t>
                      </a:r>
                      <a:endParaRPr lang="en-IN" sz="1800" dirty="0">
                        <a:effectLst/>
                        <a:latin typeface="Calibri" panose="020F0502020204030204" pitchFamily="34" charset="0"/>
                        <a:ea typeface="Calibri" panose="020F0502020204030204" pitchFamily="34" charset="0"/>
                      </a:endParaRPr>
                    </a:p>
                  </a:txBody>
                  <a:tcPr marL="69850" marR="69850" marT="44450" marB="44450"/>
                </a:tc>
                <a:extLst>
                  <a:ext uri="{0D108BD9-81ED-4DB2-BD59-A6C34878D82A}">
                    <a16:rowId xmlns:a16="http://schemas.microsoft.com/office/drawing/2014/main" val="821586538"/>
                  </a:ext>
                </a:extLst>
              </a:tr>
            </a:tbl>
          </a:graphicData>
        </a:graphic>
      </p:graphicFrame>
      <p:pic>
        <p:nvPicPr>
          <p:cNvPr id="37" name="Picture 36">
            <a:extLst>
              <a:ext uri="{FF2B5EF4-FFF2-40B4-BE49-F238E27FC236}">
                <a16:creationId xmlns:a16="http://schemas.microsoft.com/office/drawing/2014/main" id="{4D113B7D-592E-0992-B735-8D7B7C7CCF30}"/>
              </a:ext>
            </a:extLst>
          </p:cNvPr>
          <p:cNvPicPr>
            <a:picLocks noChangeAspect="1"/>
          </p:cNvPicPr>
          <p:nvPr/>
        </p:nvPicPr>
        <p:blipFill>
          <a:blip r:embed="rId5"/>
          <a:stretch>
            <a:fillRect/>
          </a:stretch>
        </p:blipFill>
        <p:spPr>
          <a:xfrm>
            <a:off x="5325897" y="1635238"/>
            <a:ext cx="6627933" cy="44271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837557"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
        <p:nvSpPr>
          <p:cNvPr id="7" name="Lead Icon Hex"/>
          <p:cNvSpPr/>
          <p:nvPr/>
        </p:nvSpPr>
        <p:spPr>
          <a:xfrm>
            <a:off x="548640" y="1258756"/>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319110"/>
            <a:ext cx="274320" cy="274320"/>
          </a:xfrm>
          <a:prstGeom prst="rect">
            <a:avLst/>
          </a:prstGeom>
        </p:spPr>
      </p:pic>
      <p:sp>
        <p:nvSpPr>
          <p:cNvPr id="9" name="Lead Text"/>
          <p:cNvSpPr txBox="1"/>
          <p:nvPr/>
        </p:nvSpPr>
        <p:spPr>
          <a:xfrm>
            <a:off x="1112064" y="1192791"/>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grpSp>
        <p:nvGrpSpPr>
          <p:cNvPr id="31" name="Group 18">
            <a:extLst>
              <a:ext uri="{FF2B5EF4-FFF2-40B4-BE49-F238E27FC236}">
                <a16:creationId xmlns:a16="http://schemas.microsoft.com/office/drawing/2014/main" id="{FE1F7ABF-A145-A78C-B933-5C9C7EA90D99}"/>
              </a:ext>
            </a:extLst>
          </p:cNvPr>
          <p:cNvGrpSpPr/>
          <p:nvPr/>
        </p:nvGrpSpPr>
        <p:grpSpPr>
          <a:xfrm>
            <a:off x="93306" y="2009429"/>
            <a:ext cx="12017829" cy="4299931"/>
            <a:chOff x="0" y="0"/>
            <a:chExt cx="3029807" cy="1998133"/>
          </a:xfrm>
        </p:grpSpPr>
        <p:sp>
          <p:nvSpPr>
            <p:cNvPr id="32" name="Freeform 19">
              <a:extLst>
                <a:ext uri="{FF2B5EF4-FFF2-40B4-BE49-F238E27FC236}">
                  <a16:creationId xmlns:a16="http://schemas.microsoft.com/office/drawing/2014/main" id="{03B8630F-A2BE-98F5-33EB-FC422CCE9636}"/>
                </a:ext>
              </a:extLst>
            </p:cNvPr>
            <p:cNvSpPr/>
            <p:nvPr/>
          </p:nvSpPr>
          <p:spPr>
            <a:xfrm>
              <a:off x="0" y="0"/>
              <a:ext cx="3029807" cy="1998133"/>
            </a:xfrm>
            <a:custGeom>
              <a:avLst/>
              <a:gdLst/>
              <a:ahLst/>
              <a:cxnLst/>
              <a:rect l="l" t="t" r="r" b="b"/>
              <a:pathLst>
                <a:path w="3029807" h="1998133">
                  <a:moveTo>
                    <a:pt x="34322" y="0"/>
                  </a:moveTo>
                  <a:lnTo>
                    <a:pt x="2995485" y="0"/>
                  </a:lnTo>
                  <a:cubicBezTo>
                    <a:pt x="3014441" y="0"/>
                    <a:pt x="3029807" y="15367"/>
                    <a:pt x="3029807" y="34322"/>
                  </a:cubicBezTo>
                  <a:lnTo>
                    <a:pt x="3029807" y="1963811"/>
                  </a:lnTo>
                  <a:cubicBezTo>
                    <a:pt x="3029807" y="1972914"/>
                    <a:pt x="3026191" y="1981644"/>
                    <a:pt x="3019754" y="1988080"/>
                  </a:cubicBezTo>
                  <a:cubicBezTo>
                    <a:pt x="3013318" y="1994517"/>
                    <a:pt x="3004588" y="1998133"/>
                    <a:pt x="2995485" y="1998133"/>
                  </a:cubicBezTo>
                  <a:lnTo>
                    <a:pt x="34322" y="1998133"/>
                  </a:lnTo>
                  <a:cubicBezTo>
                    <a:pt x="15367" y="1998133"/>
                    <a:pt x="0" y="1982767"/>
                    <a:pt x="0" y="1963811"/>
                  </a:cubicBezTo>
                  <a:lnTo>
                    <a:pt x="0" y="34322"/>
                  </a:lnTo>
                  <a:cubicBezTo>
                    <a:pt x="0" y="25220"/>
                    <a:pt x="3616" y="16489"/>
                    <a:pt x="10053" y="10053"/>
                  </a:cubicBezTo>
                  <a:cubicBezTo>
                    <a:pt x="16489" y="3616"/>
                    <a:pt x="25220" y="0"/>
                    <a:pt x="34322" y="0"/>
                  </a:cubicBezTo>
                  <a:close/>
                </a:path>
              </a:pathLst>
            </a:custGeom>
            <a:solidFill>
              <a:srgbClr val="FFFFFF"/>
            </a:solidFill>
            <a:ln w="38100" cap="rnd">
              <a:solidFill>
                <a:srgbClr val="000000"/>
              </a:solidFill>
              <a:prstDash val="solid"/>
              <a:round/>
            </a:ln>
          </p:spPr>
        </p:sp>
        <p:sp>
          <p:nvSpPr>
            <p:cNvPr id="33" name="TextBox 20">
              <a:extLst>
                <a:ext uri="{FF2B5EF4-FFF2-40B4-BE49-F238E27FC236}">
                  <a16:creationId xmlns:a16="http://schemas.microsoft.com/office/drawing/2014/main" id="{D3A1B27A-3267-D97A-A0D6-56A530642FB7}"/>
                </a:ext>
              </a:extLst>
            </p:cNvPr>
            <p:cNvSpPr txBox="1"/>
            <p:nvPr/>
          </p:nvSpPr>
          <p:spPr>
            <a:xfrm>
              <a:off x="0" y="-19050"/>
              <a:ext cx="3029807" cy="2017183"/>
            </a:xfrm>
            <a:prstGeom prst="rect">
              <a:avLst/>
            </a:prstGeom>
          </p:spPr>
          <p:txBody>
            <a:bodyPr lIns="50800" tIns="50800" rIns="50800" bIns="50800" rtlCol="0" anchor="ctr"/>
            <a:lstStyle/>
            <a:p>
              <a:pPr algn="ctr">
                <a:lnSpc>
                  <a:spcPts val="2160"/>
                </a:lnSpc>
              </a:pPr>
              <a:endParaRPr/>
            </a:p>
          </p:txBody>
        </p:sp>
      </p:grpSp>
      <p:grpSp>
        <p:nvGrpSpPr>
          <p:cNvPr id="34" name="Group 24">
            <a:extLst>
              <a:ext uri="{FF2B5EF4-FFF2-40B4-BE49-F238E27FC236}">
                <a16:creationId xmlns:a16="http://schemas.microsoft.com/office/drawing/2014/main" id="{34ECC7E9-7267-48DF-2BFE-E1279A4DD391}"/>
              </a:ext>
            </a:extLst>
          </p:cNvPr>
          <p:cNvGrpSpPr/>
          <p:nvPr/>
        </p:nvGrpSpPr>
        <p:grpSpPr>
          <a:xfrm>
            <a:off x="2770352" y="1674156"/>
            <a:ext cx="6083371" cy="627515"/>
            <a:chOff x="0" y="0"/>
            <a:chExt cx="1047858" cy="225854"/>
          </a:xfrm>
          <a:gradFill>
            <a:gsLst>
              <a:gs pos="0">
                <a:schemeClr val="accent6">
                  <a:lumMod val="50000"/>
                </a:schemeClr>
              </a:gs>
              <a:gs pos="100000">
                <a:schemeClr val="accent4">
                  <a:lumMod val="75000"/>
                </a:schemeClr>
              </a:gs>
            </a:gsLst>
            <a:lin ang="0" scaled="0"/>
          </a:gradFill>
        </p:grpSpPr>
        <p:sp>
          <p:nvSpPr>
            <p:cNvPr id="35" name="Freeform 25">
              <a:extLst>
                <a:ext uri="{FF2B5EF4-FFF2-40B4-BE49-F238E27FC236}">
                  <a16:creationId xmlns:a16="http://schemas.microsoft.com/office/drawing/2014/main" id="{4AC0D8B9-CBDB-8A03-46CF-F57F31AB30B4}"/>
                </a:ext>
              </a:extLst>
            </p:cNvPr>
            <p:cNvSpPr/>
            <p:nvPr/>
          </p:nvSpPr>
          <p:spPr>
            <a:xfrm>
              <a:off x="0" y="0"/>
              <a:ext cx="1047858" cy="225854"/>
            </a:xfrm>
            <a:custGeom>
              <a:avLst/>
              <a:gdLst/>
              <a:ahLst/>
              <a:cxnLst/>
              <a:rect l="l" t="t" r="r" b="b"/>
              <a:pathLst>
                <a:path w="1047858" h="225854">
                  <a:moveTo>
                    <a:pt x="1047858" y="0"/>
                  </a:moveTo>
                  <a:lnTo>
                    <a:pt x="0" y="0"/>
                  </a:lnTo>
                  <a:lnTo>
                    <a:pt x="101600" y="112927"/>
                  </a:lnTo>
                  <a:lnTo>
                    <a:pt x="0" y="225854"/>
                  </a:lnTo>
                  <a:lnTo>
                    <a:pt x="1047858" y="225854"/>
                  </a:lnTo>
                  <a:lnTo>
                    <a:pt x="946258" y="112927"/>
                  </a:lnTo>
                  <a:lnTo>
                    <a:pt x="1047858" y="0"/>
                  </a:lnTo>
                  <a:close/>
                </a:path>
              </a:pathLst>
            </a:custGeom>
            <a:grpFill/>
          </p:spPr>
          <p:txBody>
            <a:bodyPr/>
            <a:lstStyle/>
            <a:p>
              <a:endParaRPr lang="en-IN" dirty="0"/>
            </a:p>
          </p:txBody>
        </p:sp>
        <p:sp>
          <p:nvSpPr>
            <p:cNvPr id="36" name="TextBox 26">
              <a:extLst>
                <a:ext uri="{FF2B5EF4-FFF2-40B4-BE49-F238E27FC236}">
                  <a16:creationId xmlns:a16="http://schemas.microsoft.com/office/drawing/2014/main" id="{181CAB8C-83C5-4F8C-4884-ABDAE4C815A3}"/>
                </a:ext>
              </a:extLst>
            </p:cNvPr>
            <p:cNvSpPr txBox="1"/>
            <p:nvPr/>
          </p:nvSpPr>
          <p:spPr>
            <a:xfrm>
              <a:off x="88900" y="-19050"/>
              <a:ext cx="870058" cy="244904"/>
            </a:xfrm>
            <a:prstGeom prst="rect">
              <a:avLst/>
            </a:prstGeom>
            <a:grpFill/>
          </p:spPr>
          <p:txBody>
            <a:bodyPr lIns="50800" tIns="50800" rIns="50800" bIns="50800" rtlCol="0" anchor="ctr"/>
            <a:lstStyle/>
            <a:p>
              <a:pPr algn="ctr">
                <a:lnSpc>
                  <a:spcPts val="2160"/>
                </a:lnSpc>
              </a:pPr>
              <a:endParaRPr/>
            </a:p>
          </p:txBody>
        </p:sp>
      </p:grpSp>
      <p:sp>
        <p:nvSpPr>
          <p:cNvPr id="37" name="TextBox 36">
            <a:extLst>
              <a:ext uri="{FF2B5EF4-FFF2-40B4-BE49-F238E27FC236}">
                <a16:creationId xmlns:a16="http://schemas.microsoft.com/office/drawing/2014/main" id="{3109FD10-BB86-3DDD-6AAD-833D9F9892E8}"/>
              </a:ext>
            </a:extLst>
          </p:cNvPr>
          <p:cNvSpPr txBox="1"/>
          <p:nvPr/>
        </p:nvSpPr>
        <p:spPr>
          <a:xfrm>
            <a:off x="3396344" y="1726583"/>
            <a:ext cx="4814596" cy="400110"/>
          </a:xfrm>
          <a:prstGeom prst="rect">
            <a:avLst/>
          </a:prstGeom>
          <a:noFill/>
        </p:spPr>
        <p:txBody>
          <a:bodyPr wrap="square" rtlCol="0">
            <a:spAutoFit/>
          </a:bodyPr>
          <a:lstStyle/>
          <a:p>
            <a:r>
              <a:rPr lang="en-US" sz="2000" dirty="0">
                <a:solidFill>
                  <a:schemeClr val="bg1"/>
                </a:solidFill>
                <a:latin typeface="Arial Rounded MT Bold" panose="020F0704030504030204" pitchFamily="34" charset="0"/>
              </a:rPr>
              <a:t>Hardware and Software Resources </a:t>
            </a:r>
            <a:endParaRPr lang="en-IN" sz="2000" dirty="0">
              <a:solidFill>
                <a:schemeClr val="bg1"/>
              </a:solidFill>
              <a:latin typeface="Arial Rounded MT Bold" panose="020F0704030504030204" pitchFamily="34" charset="0"/>
            </a:endParaRPr>
          </a:p>
        </p:txBody>
      </p:sp>
      <p:sp>
        <p:nvSpPr>
          <p:cNvPr id="38" name="TextBox 37">
            <a:extLst>
              <a:ext uri="{FF2B5EF4-FFF2-40B4-BE49-F238E27FC236}">
                <a16:creationId xmlns:a16="http://schemas.microsoft.com/office/drawing/2014/main" id="{4E028CDF-8802-2B3D-891A-18B94D2D39D0}"/>
              </a:ext>
            </a:extLst>
          </p:cNvPr>
          <p:cNvSpPr txBox="1"/>
          <p:nvPr/>
        </p:nvSpPr>
        <p:spPr>
          <a:xfrm>
            <a:off x="336267" y="2202024"/>
            <a:ext cx="11252353" cy="4185761"/>
          </a:xfrm>
          <a:prstGeom prst="rect">
            <a:avLst/>
          </a:prstGeom>
          <a:noFill/>
        </p:spPr>
        <p:txBody>
          <a:bodyPr wrap="square" rtlCol="0">
            <a:spAutoFit/>
          </a:bodyPr>
          <a:lstStyle/>
          <a:p>
            <a:r>
              <a:rPr lang="en-IN" sz="1900" b="1" u="sng" dirty="0"/>
              <a:t>Hardware Requirements :</a:t>
            </a:r>
          </a:p>
          <a:p>
            <a:pPr marL="285750" indent="-285750">
              <a:buFont typeface="Arial" panose="020B0604020202020204" pitchFamily="34" charset="0"/>
              <a:buChar char="•"/>
            </a:pPr>
            <a:r>
              <a:rPr lang="en-IN" sz="1900" dirty="0"/>
              <a:t>Laptop or computer with sufficient processing power  </a:t>
            </a:r>
          </a:p>
          <a:p>
            <a:pPr marL="285750" indent="-285750">
              <a:buFont typeface="Arial" panose="020B0604020202020204" pitchFamily="34" charset="0"/>
              <a:buChar char="•"/>
            </a:pPr>
            <a:r>
              <a:rPr lang="en-IN" sz="1900" dirty="0"/>
              <a:t>Internet connection for accessing satellite data</a:t>
            </a:r>
          </a:p>
          <a:p>
            <a:r>
              <a:rPr lang="en-IN" sz="1900" b="1" u="sng" dirty="0"/>
              <a:t>Software Requirements :</a:t>
            </a:r>
          </a:p>
          <a:p>
            <a:pPr marL="285750" indent="-285750">
              <a:buFont typeface="Arial" panose="020B0604020202020204" pitchFamily="34" charset="0"/>
              <a:buChar char="•"/>
            </a:pPr>
            <a:r>
              <a:rPr lang="en-IN" sz="1900" dirty="0"/>
              <a:t>Python for data processing and change estimation </a:t>
            </a:r>
          </a:p>
          <a:p>
            <a:pPr marL="285750" indent="-285750">
              <a:buFont typeface="Arial" panose="020B0604020202020204" pitchFamily="34" charset="0"/>
              <a:buChar char="•"/>
            </a:pPr>
            <a:r>
              <a:rPr lang="en-IN" sz="1900" dirty="0"/>
              <a:t>QGIS for geospatial mapping and visualization</a:t>
            </a:r>
          </a:p>
          <a:p>
            <a:pPr marL="285750" indent="-285750">
              <a:buFont typeface="Arial" panose="020B0604020202020204" pitchFamily="34" charset="0"/>
              <a:buChar char="•"/>
            </a:pPr>
            <a:r>
              <a:rPr lang="en-IN" sz="1900" dirty="0"/>
              <a:t>Open-source libraries: OpenCV, </a:t>
            </a:r>
            <a:r>
              <a:rPr lang="en-IN" sz="1900" dirty="0" err="1"/>
              <a:t>Rasterio</a:t>
            </a:r>
            <a:r>
              <a:rPr lang="en-IN" sz="1900" dirty="0"/>
              <a:t> , NumPy and </a:t>
            </a:r>
          </a:p>
          <a:p>
            <a:r>
              <a:rPr lang="en-IN" sz="1900" dirty="0" err="1"/>
              <a:t>GeoPandas</a:t>
            </a:r>
            <a:r>
              <a:rPr lang="en-IN" sz="1900" dirty="0"/>
              <a:t>.</a:t>
            </a:r>
          </a:p>
          <a:p>
            <a:pPr marL="285750" indent="-285750">
              <a:buFont typeface="Arial" panose="020B0604020202020204" pitchFamily="34" charset="0"/>
              <a:buChar char="•"/>
            </a:pPr>
            <a:r>
              <a:rPr lang="en-IN" sz="1900" dirty="0"/>
              <a:t>Free satellite data portals and APIs for retrieving imagery</a:t>
            </a:r>
          </a:p>
          <a:p>
            <a:r>
              <a:rPr lang="en-IN" sz="1900" b="1" u="sng" dirty="0"/>
              <a:t>Other Resources Including Human Resources  :</a:t>
            </a:r>
          </a:p>
          <a:p>
            <a:pPr marL="285750" indent="-285750">
              <a:buFont typeface="Arial" panose="020B0604020202020204" pitchFamily="34" charset="0"/>
              <a:buChar char="•"/>
            </a:pPr>
            <a:r>
              <a:rPr lang="en-IN" sz="1900" dirty="0"/>
              <a:t> Sentinel satellite imagery from Copernicus Data Space</a:t>
            </a:r>
          </a:p>
          <a:p>
            <a:pPr marL="285750" indent="-285750">
              <a:buFont typeface="Arial" panose="020B0604020202020204" pitchFamily="34" charset="0"/>
              <a:buChar char="•"/>
            </a:pPr>
            <a:r>
              <a:rPr lang="en-IN" sz="1900" dirty="0"/>
              <a:t> Landsat imagery from USGS Earth Explorer</a:t>
            </a:r>
          </a:p>
          <a:p>
            <a:pPr marL="285750" indent="-285750">
              <a:buFont typeface="Arial" panose="020B0604020202020204" pitchFamily="34" charset="0"/>
              <a:buChar char="•"/>
            </a:pPr>
            <a:r>
              <a:rPr lang="en-IN" sz="1900" dirty="0"/>
              <a:t>Open weather and terrain datasets for contextual analysis</a:t>
            </a:r>
          </a:p>
          <a:p>
            <a:pPr marL="285750" indent="-285750">
              <a:buFont typeface="Arial" panose="020B0604020202020204" pitchFamily="34" charset="0"/>
              <a:buChar char="•"/>
            </a:pPr>
            <a:r>
              <a:rPr lang="en-IN" sz="1900" dirty="0"/>
              <a:t>Historical observations for validating estimated changes</a:t>
            </a:r>
          </a:p>
        </p:txBody>
      </p:sp>
      <p:pic>
        <p:nvPicPr>
          <p:cNvPr id="42" name="Picture 41">
            <a:extLst>
              <a:ext uri="{FF2B5EF4-FFF2-40B4-BE49-F238E27FC236}">
                <a16:creationId xmlns:a16="http://schemas.microsoft.com/office/drawing/2014/main" id="{7A3354EF-8DB1-498A-EA35-6FD97F237CD3}"/>
              </a:ext>
            </a:extLst>
          </p:cNvPr>
          <p:cNvPicPr>
            <a:picLocks noChangeAspect="1"/>
          </p:cNvPicPr>
          <p:nvPr/>
        </p:nvPicPr>
        <p:blipFill>
          <a:blip r:embed="rId5"/>
          <a:stretch>
            <a:fillRect/>
          </a:stretch>
        </p:blipFill>
        <p:spPr>
          <a:xfrm>
            <a:off x="6435598" y="2730107"/>
            <a:ext cx="5544907" cy="29351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788920" y="356434"/>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IN"/>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IN"/>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Nexova</a:t>
            </a:r>
            <a:endParaRPr lang="en-US" sz="900" dirty="0"/>
          </a:p>
        </p:txBody>
      </p:sp>
      <p:sp>
        <p:nvSpPr>
          <p:cNvPr id="7" name="Lead Icon Hex"/>
          <p:cNvSpPr/>
          <p:nvPr/>
        </p:nvSpPr>
        <p:spPr>
          <a:xfrm>
            <a:off x="548640" y="1248437"/>
            <a:ext cx="457200" cy="395935"/>
          </a:xfrm>
          <a:prstGeom prst="hexagon">
            <a:avLst/>
          </a:prstGeom>
          <a:solidFill>
            <a:schemeClr val="accent3"/>
          </a:solidFill>
          <a:ln/>
        </p:spPr>
        <p:txBody>
          <a:bodyPr/>
          <a:lstStyle/>
          <a:p>
            <a:endParaRPr lang="en-IN"/>
          </a:p>
        </p:txBody>
      </p:sp>
      <p:pic>
        <p:nvPicPr>
          <p:cNvPr id="8" name="Lead Icon" descr="Lightbulb icon"/>
          <p:cNvPicPr>
            <a:picLocks noChangeAspect="1"/>
          </p:cNvPicPr>
          <p:nvPr/>
        </p:nvPicPr>
        <p:blipFill>
          <a:blip r:embed="rId4"/>
          <a:stretch>
            <a:fillRect/>
          </a:stretch>
        </p:blipFill>
        <p:spPr>
          <a:xfrm>
            <a:off x="640080" y="1327442"/>
            <a:ext cx="274320" cy="274320"/>
          </a:xfrm>
          <a:prstGeom prst="rect">
            <a:avLst/>
          </a:prstGeom>
        </p:spPr>
      </p:pic>
      <p:sp>
        <p:nvSpPr>
          <p:cNvPr id="9" name="Lead Text"/>
          <p:cNvSpPr txBox="1"/>
          <p:nvPr/>
        </p:nvSpPr>
        <p:spPr>
          <a:xfrm>
            <a:off x="1114446" y="1165389"/>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graphicFrame>
        <p:nvGraphicFramePr>
          <p:cNvPr id="13" name="Diagram 12">
            <a:extLst>
              <a:ext uri="{FF2B5EF4-FFF2-40B4-BE49-F238E27FC236}">
                <a16:creationId xmlns:a16="http://schemas.microsoft.com/office/drawing/2014/main" id="{A58B52FF-DB7C-6E4D-1826-A6AB25408AC5}"/>
              </a:ext>
            </a:extLst>
          </p:cNvPr>
          <p:cNvGraphicFramePr/>
          <p:nvPr>
            <p:extLst>
              <p:ext uri="{D42A27DB-BD31-4B8C-83A1-F6EECF244321}">
                <p14:modId xmlns:p14="http://schemas.microsoft.com/office/powerpoint/2010/main" val="3924142399"/>
              </p:ext>
            </p:extLst>
          </p:nvPr>
        </p:nvGraphicFramePr>
        <p:xfrm>
          <a:off x="777240" y="1644372"/>
          <a:ext cx="10300314" cy="456204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1269</Words>
  <Application>Microsoft Office PowerPoint</Application>
  <PresentationFormat>Widescreen</PresentationFormat>
  <Paragraphs>139</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Arial Rounded MT Bold</vt:lpstr>
      <vt:lpstr>Bahnschrift</vt:lpstr>
      <vt:lpstr>Calibri</vt:lpstr>
      <vt:lpstr>Cambria</vt:lpstr>
      <vt:lpstr>Times New Roman</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R Sanjay</cp:lastModifiedBy>
  <cp:revision>3</cp:revision>
  <dcterms:created xsi:type="dcterms:W3CDTF">2026-10-07T15:27:40Z</dcterms:created>
  <dcterms:modified xsi:type="dcterms:W3CDTF">2026-10-09T18:08:15Z</dcterms:modified>
</cp:coreProperties>
</file>